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7" r:id="rId13"/>
    <p:sldId id="268" r:id="rId14"/>
    <p:sldId id="269" r:id="rId15"/>
    <p:sldId id="271" r:id="rId16"/>
    <p:sldId id="272" r:id="rId17"/>
    <p:sldId id="273" r:id="rId18"/>
    <p:sldId id="270" r:id="rId19"/>
    <p:sldId id="275" r:id="rId20"/>
    <p:sldId id="274" r:id="rId21"/>
    <p:sldId id="276" r:id="rId22"/>
    <p:sldId id="277" r:id="rId23"/>
    <p:sldId id="279" r:id="rId24"/>
    <p:sldId id="280" r:id="rId25"/>
    <p:sldId id="281" r:id="rId26"/>
    <p:sldId id="284" r:id="rId27"/>
    <p:sldId id="282" r:id="rId28"/>
    <p:sldId id="285" r:id="rId29"/>
    <p:sldId id="286" r:id="rId30"/>
    <p:sldId id="283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D"/>
    <a:srgbClr val="FD6019"/>
    <a:srgbClr val="1FB8C6"/>
    <a:srgbClr val="EC720F"/>
    <a:srgbClr val="F881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3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&#1052;&#1048;&#1060;&#1048;%20&#1084;&#1072;&#1075;&#1080;&#1089;&#1090;&#1088;&#1072;&#1090;&#1091;&#1088;&#1072;\10_&#1055;&#1088;&#1072;&#1082;&#1090;&#1080;&#1082;&#1072;_Pyton_SQL_Metabase\&#1041;&#1099;&#1083;&#1086;-&#1089;&#1090;&#1072;&#1083;&#108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&#1052;&#1048;&#1060;&#1048;%20&#1084;&#1072;&#1075;&#1080;&#1089;&#1090;&#1088;&#1072;&#1090;&#1091;&#1088;&#1072;\10_&#1055;&#1088;&#1072;&#1082;&#1090;&#1080;&#1082;&#1072;_Pyton_SQL_Metabase\&#1041;&#1099;&#1083;&#1086;-&#1089;&#1090;&#1072;&#1083;&#108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&#1052;&#1048;&#1060;&#1048;%20&#1084;&#1072;&#1075;&#1080;&#1089;&#1090;&#1088;&#1072;&#1090;&#1091;&#1088;&#1072;\10_&#1055;&#1088;&#1072;&#1082;&#1090;&#1080;&#1082;&#1072;_Pyton_SQL_Metabase\04%20&#1057;&#1074;&#1086;&#1076;&#1085;&#1099;&#1077;%20&#1076;&#1080;&#1072;&#1075;&#1088;&#1072;&#1084;&#1084;&#1099;%20&#1087;&#1086;%20&#1084;&#1077;&#1085;&#1077;&#1076;&#1078;&#1077;&#1088;&#1072;&#1084;%20(3%20&#1084;&#1077;&#1089;&#1103;&#1094;&#1072;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2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2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2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2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&#1052;&#1048;&#1060;&#1048;%20&#1084;&#1072;&#1075;&#1080;&#1089;&#1090;&#1088;&#1072;&#1090;&#1091;&#1088;&#1072;\10_&#1055;&#1088;&#1072;&#1082;&#1090;&#1080;&#1082;&#1072;_Pyton_SQL_Metabase\06%20&#1058;&#1086;&#1087;%203%20&#1084;&#1077;&#1085;&#1077;&#1076;&#1078;&#1077;&#1088;&#1099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&#1052;&#1048;&#1060;&#1048;%20&#1084;&#1072;&#1075;&#1080;&#1089;&#1090;&#1088;&#1072;&#1090;&#1091;&#1088;&#1072;\10_&#1055;&#1088;&#1072;&#1082;&#1090;&#1080;&#1082;&#1072;_Pyton_SQL_Metabase\06%20&#1058;&#1086;&#1087;%203%20&#1084;&#1077;&#1085;&#1077;&#1076;&#1078;&#1077;&#1088;&#1099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&#1052;&#1048;&#1060;&#1048;%20&#1084;&#1072;&#1075;&#1080;&#1089;&#1090;&#1088;&#1072;&#1090;&#1091;&#1088;&#1072;\10_&#1055;&#1088;&#1072;&#1082;&#1090;&#1080;&#1082;&#1072;_Pyton_SQL_Metabase\06%20&#1058;&#1086;&#1087;%203%20&#1084;&#1077;&#1085;&#1077;&#1076;&#1078;&#1077;&#1088;&#1099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&#1052;&#1048;&#1060;&#1048;%20&#1084;&#1072;&#1075;&#1080;&#1089;&#1090;&#1088;&#1072;&#1090;&#1091;&#1088;&#1072;\10_&#1055;&#1088;&#1072;&#1082;&#1090;&#1080;&#1082;&#1072;_Pyton_SQL_Metabase\06%20&#1058;&#1086;&#1087;%203%20&#1084;&#1077;&#1085;&#1077;&#1076;&#1078;&#1077;&#1088;&#1099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14260717410323E-2"/>
          <c:y val="5.0925925925925923E-2"/>
          <c:w val="0.87753018372703417"/>
          <c:h val="0.805285433070866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'[Было-стало.xlsx]Задача 1 (сводная)'!$E$23</c:f>
              <c:strCache>
                <c:ptCount val="1"/>
                <c:pt idx="0">
                  <c:v>A+ 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'[Было-стало.xlsx]Задача 1 (сводная)'!$A$24:$A$27</c:f>
              <c:strCache>
                <c:ptCount val="4"/>
                <c:pt idx="0">
                  <c:v>Отдел труб и штоков</c:v>
                </c:pt>
                <c:pt idx="1">
                  <c:v>Производство гидроцилиндров</c:v>
                </c:pt>
                <c:pt idx="2">
                  <c:v>Трубка и РВД</c:v>
                </c:pt>
                <c:pt idx="3">
                  <c:v>Отдел уплотнений</c:v>
                </c:pt>
              </c:strCache>
            </c:strRef>
          </c:cat>
          <c:val>
            <c:numRef>
              <c:f>'[Было-стало.xlsx]Задача 1 (сводная)'!$E$24:$E$27</c:f>
              <c:numCache>
                <c:formatCode>General</c:formatCode>
                <c:ptCount val="4"/>
                <c:pt idx="0">
                  <c:v>54</c:v>
                </c:pt>
                <c:pt idx="1">
                  <c:v>30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58-477E-8158-B920632B454B}"/>
            </c:ext>
          </c:extLst>
        </c:ser>
        <c:ser>
          <c:idx val="1"/>
          <c:order val="1"/>
          <c:tx>
            <c:strRef>
              <c:f>'[Было-стало.xlsx]Задача 1 (сводная)'!$F$23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'[Было-стало.xlsx]Задача 1 (сводная)'!$A$24:$A$27</c:f>
              <c:strCache>
                <c:ptCount val="4"/>
                <c:pt idx="0">
                  <c:v>Отдел труб и штоков</c:v>
                </c:pt>
                <c:pt idx="1">
                  <c:v>Производство гидроцилиндров</c:v>
                </c:pt>
                <c:pt idx="2">
                  <c:v>Трубка и РВД</c:v>
                </c:pt>
                <c:pt idx="3">
                  <c:v>Отдел уплотнений</c:v>
                </c:pt>
              </c:strCache>
            </c:strRef>
          </c:cat>
          <c:val>
            <c:numRef>
              <c:f>'[Было-стало.xlsx]Задача 1 (сводная)'!$F$24:$F$27</c:f>
              <c:numCache>
                <c:formatCode>General</c:formatCode>
                <c:ptCount val="4"/>
                <c:pt idx="0">
                  <c:v>210</c:v>
                </c:pt>
                <c:pt idx="1">
                  <c:v>79</c:v>
                </c:pt>
                <c:pt idx="2">
                  <c:v>72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58-477E-8158-B920632B454B}"/>
            </c:ext>
          </c:extLst>
        </c:ser>
        <c:ser>
          <c:idx val="2"/>
          <c:order val="2"/>
          <c:tx>
            <c:strRef>
              <c:f>'[Было-стало.xlsx]Задача 1 (сводная)'!$G$23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'[Было-стало.xlsx]Задача 1 (сводная)'!$A$24:$A$27</c:f>
              <c:strCache>
                <c:ptCount val="4"/>
                <c:pt idx="0">
                  <c:v>Отдел труб и штоков</c:v>
                </c:pt>
                <c:pt idx="1">
                  <c:v>Производство гидроцилиндров</c:v>
                </c:pt>
                <c:pt idx="2">
                  <c:v>Трубка и РВД</c:v>
                </c:pt>
                <c:pt idx="3">
                  <c:v>Отдел уплотнений</c:v>
                </c:pt>
              </c:strCache>
            </c:strRef>
          </c:cat>
          <c:val>
            <c:numRef>
              <c:f>'[Было-стало.xlsx]Задача 1 (сводная)'!$G$24:$G$27</c:f>
              <c:numCache>
                <c:formatCode>General</c:formatCode>
                <c:ptCount val="4"/>
                <c:pt idx="0">
                  <c:v>122</c:v>
                </c:pt>
                <c:pt idx="1">
                  <c:v>38</c:v>
                </c:pt>
                <c:pt idx="2">
                  <c:v>81</c:v>
                </c:pt>
                <c:pt idx="3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58-477E-8158-B920632B454B}"/>
            </c:ext>
          </c:extLst>
        </c:ser>
        <c:ser>
          <c:idx val="3"/>
          <c:order val="3"/>
          <c:tx>
            <c:strRef>
              <c:f>'[Было-стало.xlsx]Задача 1 (сводная)'!$H$23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cat>
            <c:strRef>
              <c:f>'[Было-стало.xlsx]Задача 1 (сводная)'!$A$24:$A$27</c:f>
              <c:strCache>
                <c:ptCount val="4"/>
                <c:pt idx="0">
                  <c:v>Отдел труб и штоков</c:v>
                </c:pt>
                <c:pt idx="1">
                  <c:v>Производство гидроцилиндров</c:v>
                </c:pt>
                <c:pt idx="2">
                  <c:v>Трубка и РВД</c:v>
                </c:pt>
                <c:pt idx="3">
                  <c:v>Отдел уплотнений</c:v>
                </c:pt>
              </c:strCache>
            </c:strRef>
          </c:cat>
          <c:val>
            <c:numRef>
              <c:f>'[Было-стало.xlsx]Задача 1 (сводная)'!$H$24:$H$27</c:f>
              <c:numCache>
                <c:formatCode>General</c:formatCode>
                <c:ptCount val="4"/>
                <c:pt idx="0">
                  <c:v>714</c:v>
                </c:pt>
                <c:pt idx="1">
                  <c:v>130</c:v>
                </c:pt>
                <c:pt idx="2">
                  <c:v>1369</c:v>
                </c:pt>
                <c:pt idx="3">
                  <c:v>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C58-477E-8158-B920632B454B}"/>
            </c:ext>
          </c:extLst>
        </c:ser>
        <c:ser>
          <c:idx val="4"/>
          <c:order val="4"/>
          <c:tx>
            <c:strRef>
              <c:f>'[Было-стало.xlsx]Задача 1 (сводная)'!$I$23</c:f>
              <c:strCache>
                <c:ptCount val="1"/>
                <c:pt idx="0">
                  <c:v>C-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'[Было-стало.xlsx]Задача 1 (сводная)'!$A$24:$A$27</c:f>
              <c:strCache>
                <c:ptCount val="4"/>
                <c:pt idx="0">
                  <c:v>Отдел труб и штоков</c:v>
                </c:pt>
                <c:pt idx="1">
                  <c:v>Производство гидроцилиндров</c:v>
                </c:pt>
                <c:pt idx="2">
                  <c:v>Трубка и РВД</c:v>
                </c:pt>
                <c:pt idx="3">
                  <c:v>Отдел уплотнений</c:v>
                </c:pt>
              </c:strCache>
            </c:strRef>
          </c:cat>
          <c:val>
            <c:numRef>
              <c:f>'[Было-стало.xlsx]Задача 1 (сводная)'!$I$24:$I$27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58-477E-8158-B920632B4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34785232"/>
        <c:axId val="1734761296"/>
      </c:barChart>
      <c:catAx>
        <c:axId val="173478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34761296"/>
        <c:crosses val="autoZero"/>
        <c:auto val="1"/>
        <c:lblAlgn val="ctr"/>
        <c:lblOffset val="100"/>
        <c:noMultiLvlLbl val="0"/>
      </c:catAx>
      <c:valAx>
        <c:axId val="1734761296"/>
        <c:scaling>
          <c:orientation val="minMax"/>
          <c:max val="16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34785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4119247594050743"/>
          <c:y val="2.0321502202418774E-2"/>
          <c:w val="0.34071741032370956"/>
          <c:h val="6.56985675564813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55973348263693"/>
          <c:y val="3.7252041929213123E-2"/>
          <c:w val="0.80166988406622419"/>
          <c:h val="0.769517056742032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'[Было-стало.xlsx]Задача 1 (сводная)'!$B$23</c:f>
              <c:strCache>
                <c:ptCount val="1"/>
                <c:pt idx="0">
                  <c:v>Контрагенты</c:v>
                </c:pt>
              </c:strCache>
            </c:strRef>
          </c:tx>
          <c:spPr>
            <a:solidFill>
              <a:srgbClr val="1FB8C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'[Было-стало.xlsx]Задача 1 (сводная)'!$A$24:$A$27</c:f>
              <c:strCache>
                <c:ptCount val="4"/>
                <c:pt idx="0">
                  <c:v>Отдел труб и штоков</c:v>
                </c:pt>
                <c:pt idx="1">
                  <c:v>Производство гидроцилиндров</c:v>
                </c:pt>
                <c:pt idx="2">
                  <c:v>Трубка и РВД</c:v>
                </c:pt>
                <c:pt idx="3">
                  <c:v>Отдел уплотнений</c:v>
                </c:pt>
              </c:strCache>
            </c:strRef>
          </c:cat>
          <c:val>
            <c:numRef>
              <c:f>'[Было-стало.xlsx]Задача 1 (сводная)'!$B$24:$B$27</c:f>
              <c:numCache>
                <c:formatCode>General</c:formatCode>
                <c:ptCount val="4"/>
                <c:pt idx="0">
                  <c:v>1101</c:v>
                </c:pt>
                <c:pt idx="1">
                  <c:v>277</c:v>
                </c:pt>
                <c:pt idx="2">
                  <c:v>1536</c:v>
                </c:pt>
                <c:pt idx="3">
                  <c:v>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1-4D50-A8F2-3AB1B97A32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72678592"/>
        <c:axId val="1772661184"/>
      </c:barChart>
      <c:lineChart>
        <c:grouping val="standard"/>
        <c:varyColors val="0"/>
        <c:ser>
          <c:idx val="1"/>
          <c:order val="1"/>
          <c:tx>
            <c:strRef>
              <c:f>'[Было-стало.xlsx]Задача 1 (сводная)'!$D$23</c:f>
              <c:strCache>
                <c:ptCount val="1"/>
                <c:pt idx="0">
                  <c:v>Сумма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1.843075073527018E-3"/>
                  <c:y val="-4.8317948405779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621-4D50-A8F2-3AB1B97A326C}"/>
                </c:ext>
              </c:extLst>
            </c:dLbl>
            <c:dLbl>
              <c:idx val="2"/>
              <c:layout>
                <c:manualLayout>
                  <c:x val="-7.9252228161664676E-2"/>
                  <c:y val="4.48666663767952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0621-4D50-A8F2-3AB1B97A326C}"/>
                </c:ext>
              </c:extLst>
            </c:dLbl>
            <c:dLbl>
              <c:idx val="3"/>
              <c:layout>
                <c:manualLayout>
                  <c:x val="-6.0821477426393954E-2"/>
                  <c:y val="8.6282050724606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621-4D50-A8F2-3AB1B97A326C}"/>
                </c:ext>
              </c:extLst>
            </c:dLbl>
            <c:spPr>
              <a:solidFill>
                <a:schemeClr val="bg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'[Было-стало.xlsx]Задача 1 (сводная)'!$A$24:$A$27</c:f>
              <c:strCache>
                <c:ptCount val="4"/>
                <c:pt idx="0">
                  <c:v>Отдел труб и штоков</c:v>
                </c:pt>
                <c:pt idx="1">
                  <c:v>Производство гидроцилиндров</c:v>
                </c:pt>
                <c:pt idx="2">
                  <c:v>Трубка и РВД</c:v>
                </c:pt>
                <c:pt idx="3">
                  <c:v>Отдел уплотнений</c:v>
                </c:pt>
              </c:strCache>
            </c:strRef>
          </c:cat>
          <c:val>
            <c:numRef>
              <c:f>'[Было-стало.xlsx]Задача 1 (сводная)'!$D$24:$D$27</c:f>
              <c:numCache>
                <c:formatCode>_-* #\ ##0.00\ [$₽-419]_-;\-* #\ ##0.00\ [$₽-419]_-;_-* "-"??\ [$₽-419]_-;_-@_-</c:formatCode>
                <c:ptCount val="4"/>
                <c:pt idx="0">
                  <c:v>1301352144.97</c:v>
                </c:pt>
                <c:pt idx="1">
                  <c:v>591567863.85000002</c:v>
                </c:pt>
                <c:pt idx="2">
                  <c:v>416658487.14999998</c:v>
                </c:pt>
                <c:pt idx="3">
                  <c:v>384399706.37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621-4D50-A8F2-3AB1B97A32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2673696"/>
        <c:axId val="1772680768"/>
      </c:lineChart>
      <c:catAx>
        <c:axId val="1772673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2680768"/>
        <c:crosses val="autoZero"/>
        <c:auto val="1"/>
        <c:lblAlgn val="ctr"/>
        <c:lblOffset val="100"/>
        <c:noMultiLvlLbl val="0"/>
      </c:catAx>
      <c:valAx>
        <c:axId val="1772680768"/>
        <c:scaling>
          <c:orientation val="minMax"/>
        </c:scaling>
        <c:delete val="0"/>
        <c:axPos val="l"/>
        <c:numFmt formatCode="_-* #\ ##0.00\ [$₽-419]_-;\-* #\ ##0.00\ [$₽-419]_-;_-* &quot;-&quot;??\ [$₽-419]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2673696"/>
        <c:crosses val="autoZero"/>
        <c:crossBetween val="between"/>
      </c:valAx>
      <c:valAx>
        <c:axId val="17726611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2678592"/>
        <c:crosses val="max"/>
        <c:crossBetween val="between"/>
      </c:valAx>
      <c:catAx>
        <c:axId val="17726785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726611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3884117260771343E-2"/>
          <c:y val="5.7091472883445835E-2"/>
          <c:w val="0.18130535264691192"/>
          <c:h val="0.229514516974148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[Книга1]Лист2!СводнаяТаблица1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24419395351279277"/>
          <c:y val="2.7241303254764149E-2"/>
          <c:w val="0.74958474902819205"/>
          <c:h val="0.9153088961948107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Лист2!$B$3</c:f>
              <c:strCache>
                <c:ptCount val="1"/>
                <c:pt idx="0">
                  <c:v>A+  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Лист2!$A$4:$A$16</c:f>
              <c:strCache>
                <c:ptCount val="12"/>
                <c:pt idx="0">
                  <c:v>Андреев Алексей Николаевич</c:v>
                </c:pt>
                <c:pt idx="1">
                  <c:v>Барахтянская Надежда Николаевна</c:v>
                </c:pt>
                <c:pt idx="2">
                  <c:v>Вигурин Владимир Олегович</c:v>
                </c:pt>
                <c:pt idx="3">
                  <c:v>Зарубина Мария Витальевна</c:v>
                </c:pt>
                <c:pt idx="4">
                  <c:v>Иполитов Алексей Владимирович</c:v>
                </c:pt>
                <c:pt idx="5">
                  <c:v>Малахов Алексей Александрович</c:v>
                </c:pt>
                <c:pt idx="6">
                  <c:v>Матвеев Михаил Михайлович</c:v>
                </c:pt>
                <c:pt idx="7">
                  <c:v>Муравлёв Андрей Петрович</c:v>
                </c:pt>
                <c:pt idx="8">
                  <c:v>Столяров Владимир Викторович</c:v>
                </c:pt>
                <c:pt idx="9">
                  <c:v>Чекмарёв Андрей Анатольевич</c:v>
                </c:pt>
                <c:pt idx="10">
                  <c:v>Чернышев Кирилл Анатольевич</c:v>
                </c:pt>
                <c:pt idx="11">
                  <c:v>Шварц Оксана Юрьевна</c:v>
                </c:pt>
              </c:strCache>
            </c:strRef>
          </c:cat>
          <c:val>
            <c:numRef>
              <c:f>Лист2!$B$4:$B$16</c:f>
              <c:numCache>
                <c:formatCode>General</c:formatCode>
                <c:ptCount val="12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</c:v>
                </c:pt>
                <c:pt idx="9">
                  <c:v>0</c:v>
                </c:pt>
                <c:pt idx="10">
                  <c:v>5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F3-4EC1-BCE8-FA8AEE4C9585}"/>
            </c:ext>
          </c:extLst>
        </c:ser>
        <c:ser>
          <c:idx val="1"/>
          <c:order val="1"/>
          <c:tx>
            <c:strRef>
              <c:f>Лист2!$C$3</c:f>
              <c:strCache>
                <c:ptCount val="1"/>
                <c:pt idx="0">
                  <c:v>A 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Лист2!$A$4:$A$16</c:f>
              <c:strCache>
                <c:ptCount val="12"/>
                <c:pt idx="0">
                  <c:v>Андреев Алексей Николаевич</c:v>
                </c:pt>
                <c:pt idx="1">
                  <c:v>Барахтянская Надежда Николаевна</c:v>
                </c:pt>
                <c:pt idx="2">
                  <c:v>Вигурин Владимир Олегович</c:v>
                </c:pt>
                <c:pt idx="3">
                  <c:v>Зарубина Мария Витальевна</c:v>
                </c:pt>
                <c:pt idx="4">
                  <c:v>Иполитов Алексей Владимирович</c:v>
                </c:pt>
                <c:pt idx="5">
                  <c:v>Малахов Алексей Александрович</c:v>
                </c:pt>
                <c:pt idx="6">
                  <c:v>Матвеев Михаил Михайлович</c:v>
                </c:pt>
                <c:pt idx="7">
                  <c:v>Муравлёв Андрей Петрович</c:v>
                </c:pt>
                <c:pt idx="8">
                  <c:v>Столяров Владимир Викторович</c:v>
                </c:pt>
                <c:pt idx="9">
                  <c:v>Чекмарёв Андрей Анатольевич</c:v>
                </c:pt>
                <c:pt idx="10">
                  <c:v>Чернышев Кирилл Анатольевич</c:v>
                </c:pt>
                <c:pt idx="11">
                  <c:v>Шварц Оксана Юрьевна</c:v>
                </c:pt>
              </c:strCache>
            </c:strRef>
          </c:cat>
          <c:val>
            <c:numRef>
              <c:f>Лист2!$C$4:$C$16</c:f>
              <c:numCache>
                <c:formatCode>General</c:formatCode>
                <c:ptCount val="12"/>
                <c:pt idx="0">
                  <c:v>11</c:v>
                </c:pt>
                <c:pt idx="1">
                  <c:v>0</c:v>
                </c:pt>
                <c:pt idx="2">
                  <c:v>5</c:v>
                </c:pt>
                <c:pt idx="3">
                  <c:v>8</c:v>
                </c:pt>
                <c:pt idx="4">
                  <c:v>8</c:v>
                </c:pt>
                <c:pt idx="5">
                  <c:v>3</c:v>
                </c:pt>
                <c:pt idx="6">
                  <c:v>1</c:v>
                </c:pt>
                <c:pt idx="7">
                  <c:v>11</c:v>
                </c:pt>
                <c:pt idx="8">
                  <c:v>13</c:v>
                </c:pt>
                <c:pt idx="9">
                  <c:v>0</c:v>
                </c:pt>
                <c:pt idx="10">
                  <c:v>7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F3-4EC1-BCE8-FA8AEE4C9585}"/>
            </c:ext>
          </c:extLst>
        </c:ser>
        <c:ser>
          <c:idx val="2"/>
          <c:order val="2"/>
          <c:tx>
            <c:strRef>
              <c:f>Лист2!$D$3</c:f>
              <c:strCache>
                <c:ptCount val="1"/>
                <c:pt idx="0">
                  <c:v>B 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Лист2!$A$4:$A$16</c:f>
              <c:strCache>
                <c:ptCount val="12"/>
                <c:pt idx="0">
                  <c:v>Андреев Алексей Николаевич</c:v>
                </c:pt>
                <c:pt idx="1">
                  <c:v>Барахтянская Надежда Николаевна</c:v>
                </c:pt>
                <c:pt idx="2">
                  <c:v>Вигурин Владимир Олегович</c:v>
                </c:pt>
                <c:pt idx="3">
                  <c:v>Зарубина Мария Витальевна</c:v>
                </c:pt>
                <c:pt idx="4">
                  <c:v>Иполитов Алексей Владимирович</c:v>
                </c:pt>
                <c:pt idx="5">
                  <c:v>Малахов Алексей Александрович</c:v>
                </c:pt>
                <c:pt idx="6">
                  <c:v>Матвеев Михаил Михайлович</c:v>
                </c:pt>
                <c:pt idx="7">
                  <c:v>Муравлёв Андрей Петрович</c:v>
                </c:pt>
                <c:pt idx="8">
                  <c:v>Столяров Владимир Викторович</c:v>
                </c:pt>
                <c:pt idx="9">
                  <c:v>Чекмарёв Андрей Анатольевич</c:v>
                </c:pt>
                <c:pt idx="10">
                  <c:v>Чернышев Кирилл Анатольевич</c:v>
                </c:pt>
                <c:pt idx="11">
                  <c:v>Шварц Оксана Юрьевна</c:v>
                </c:pt>
              </c:strCache>
            </c:strRef>
          </c:cat>
          <c:val>
            <c:numRef>
              <c:f>Лист2!$D$4:$D$16</c:f>
              <c:numCache>
                <c:formatCode>General</c:formatCode>
                <c:ptCount val="12"/>
                <c:pt idx="0">
                  <c:v>10</c:v>
                </c:pt>
                <c:pt idx="1">
                  <c:v>0</c:v>
                </c:pt>
                <c:pt idx="2">
                  <c:v>10</c:v>
                </c:pt>
                <c:pt idx="3">
                  <c:v>13</c:v>
                </c:pt>
                <c:pt idx="4">
                  <c:v>14</c:v>
                </c:pt>
                <c:pt idx="5">
                  <c:v>5</c:v>
                </c:pt>
                <c:pt idx="6">
                  <c:v>1</c:v>
                </c:pt>
                <c:pt idx="7">
                  <c:v>13</c:v>
                </c:pt>
                <c:pt idx="8">
                  <c:v>8</c:v>
                </c:pt>
                <c:pt idx="9">
                  <c:v>1</c:v>
                </c:pt>
                <c:pt idx="10">
                  <c:v>8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F3-4EC1-BCE8-FA8AEE4C9585}"/>
            </c:ext>
          </c:extLst>
        </c:ser>
        <c:ser>
          <c:idx val="3"/>
          <c:order val="3"/>
          <c:tx>
            <c:strRef>
              <c:f>Лист2!$E$3</c:f>
              <c:strCache>
                <c:ptCount val="1"/>
                <c:pt idx="0">
                  <c:v>C 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cat>
            <c:strRef>
              <c:f>Лист2!$A$4:$A$16</c:f>
              <c:strCache>
                <c:ptCount val="12"/>
                <c:pt idx="0">
                  <c:v>Андреев Алексей Николаевич</c:v>
                </c:pt>
                <c:pt idx="1">
                  <c:v>Барахтянская Надежда Николаевна</c:v>
                </c:pt>
                <c:pt idx="2">
                  <c:v>Вигурин Владимир Олегович</c:v>
                </c:pt>
                <c:pt idx="3">
                  <c:v>Зарубина Мария Витальевна</c:v>
                </c:pt>
                <c:pt idx="4">
                  <c:v>Иполитов Алексей Владимирович</c:v>
                </c:pt>
                <c:pt idx="5">
                  <c:v>Малахов Алексей Александрович</c:v>
                </c:pt>
                <c:pt idx="6">
                  <c:v>Матвеев Михаил Михайлович</c:v>
                </c:pt>
                <c:pt idx="7">
                  <c:v>Муравлёв Андрей Петрович</c:v>
                </c:pt>
                <c:pt idx="8">
                  <c:v>Столяров Владимир Викторович</c:v>
                </c:pt>
                <c:pt idx="9">
                  <c:v>Чекмарёв Андрей Анатольевич</c:v>
                </c:pt>
                <c:pt idx="10">
                  <c:v>Чернышев Кирилл Анатольевич</c:v>
                </c:pt>
                <c:pt idx="11">
                  <c:v>Шварц Оксана Юрьевна</c:v>
                </c:pt>
              </c:strCache>
            </c:strRef>
          </c:cat>
          <c:val>
            <c:numRef>
              <c:f>Лист2!$E$4:$E$16</c:f>
              <c:numCache>
                <c:formatCode>General</c:formatCode>
                <c:ptCount val="12"/>
                <c:pt idx="0">
                  <c:v>93</c:v>
                </c:pt>
                <c:pt idx="1">
                  <c:v>2</c:v>
                </c:pt>
                <c:pt idx="2">
                  <c:v>157</c:v>
                </c:pt>
                <c:pt idx="3">
                  <c:v>151</c:v>
                </c:pt>
                <c:pt idx="4">
                  <c:v>105</c:v>
                </c:pt>
                <c:pt idx="5">
                  <c:v>141</c:v>
                </c:pt>
                <c:pt idx="6">
                  <c:v>106</c:v>
                </c:pt>
                <c:pt idx="7">
                  <c:v>151</c:v>
                </c:pt>
                <c:pt idx="8">
                  <c:v>129</c:v>
                </c:pt>
                <c:pt idx="9">
                  <c:v>69</c:v>
                </c:pt>
                <c:pt idx="10">
                  <c:v>44</c:v>
                </c:pt>
                <c:pt idx="1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8F3-4EC1-BCE8-FA8AEE4C9585}"/>
            </c:ext>
          </c:extLst>
        </c:ser>
        <c:ser>
          <c:idx val="4"/>
          <c:order val="4"/>
          <c:tx>
            <c:strRef>
              <c:f>Лист2!$F$3</c:f>
              <c:strCache>
                <c:ptCount val="1"/>
                <c:pt idx="0">
                  <c:v> C- 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Лист2!$A$4:$A$16</c:f>
              <c:strCache>
                <c:ptCount val="12"/>
                <c:pt idx="0">
                  <c:v>Андреев Алексей Николаевич</c:v>
                </c:pt>
                <c:pt idx="1">
                  <c:v>Барахтянская Надежда Николаевна</c:v>
                </c:pt>
                <c:pt idx="2">
                  <c:v>Вигурин Владимир Олегович</c:v>
                </c:pt>
                <c:pt idx="3">
                  <c:v>Зарубина Мария Витальевна</c:v>
                </c:pt>
                <c:pt idx="4">
                  <c:v>Иполитов Алексей Владимирович</c:v>
                </c:pt>
                <c:pt idx="5">
                  <c:v>Малахов Алексей Александрович</c:v>
                </c:pt>
                <c:pt idx="6">
                  <c:v>Матвеев Михаил Михайлович</c:v>
                </c:pt>
                <c:pt idx="7">
                  <c:v>Муравлёв Андрей Петрович</c:v>
                </c:pt>
                <c:pt idx="8">
                  <c:v>Столяров Владимир Викторович</c:v>
                </c:pt>
                <c:pt idx="9">
                  <c:v>Чекмарёв Андрей Анатольевич</c:v>
                </c:pt>
                <c:pt idx="10">
                  <c:v>Чернышев Кирилл Анатольевич</c:v>
                </c:pt>
                <c:pt idx="11">
                  <c:v>Шварц Оксана Юрьевна</c:v>
                </c:pt>
              </c:strCache>
            </c:strRef>
          </c:cat>
          <c:val>
            <c:numRef>
              <c:f>Лист2!$F$4:$F$16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8F3-4EC1-BCE8-FA8AEE4C95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997991984"/>
        <c:axId val="-997990352"/>
      </c:barChart>
      <c:catAx>
        <c:axId val="-997991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997990352"/>
        <c:crosses val="autoZero"/>
        <c:auto val="1"/>
        <c:lblAlgn val="ctr"/>
        <c:lblOffset val="100"/>
        <c:noMultiLvlLbl val="0"/>
      </c:catAx>
      <c:valAx>
        <c:axId val="-997990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997991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0267854737702635"/>
          <c:y val="2.2850245502373124E-2"/>
          <c:w val="6.106519742883379E-2"/>
          <c:h val="0.2449359041858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[04 Сводные диаграммы по менеджерам (3 месяца).xlsx]Сводная диаграмма!СводнаяТаблица1</c:name>
    <c:fmtId val="-1"/>
  </c:pivotSource>
  <c:chart>
    <c:autoTitleDeleted val="0"/>
    <c:pivotFmts>
      <c:pivotFmt>
        <c:idx val="0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</c:pivotFmt>
      <c:pivotFmt>
        <c:idx val="5"/>
      </c:pivotFmt>
      <c:pivotFmt>
        <c:idx val="6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'Сводная диаграмма'!$B$3</c:f>
              <c:strCache>
                <c:ptCount val="1"/>
                <c:pt idx="0">
                  <c:v>A+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'Сводная диаграмма'!$A$4:$A$10</c:f>
              <c:strCache>
                <c:ptCount val="6"/>
                <c:pt idx="0">
                  <c:v>Албегов Альберт Тамерланович</c:v>
                </c:pt>
                <c:pt idx="1">
                  <c:v>Антоненко Андрей Викторович</c:v>
                </c:pt>
                <c:pt idx="2">
                  <c:v>Дубойский Александр Николаевич</c:v>
                </c:pt>
                <c:pt idx="3">
                  <c:v>Жарков Александр Павлович</c:v>
                </c:pt>
                <c:pt idx="4">
                  <c:v>Зубов Евгений Борисович</c:v>
                </c:pt>
                <c:pt idx="5">
                  <c:v>Первов Роман Игоревич</c:v>
                </c:pt>
              </c:strCache>
            </c:strRef>
          </c:cat>
          <c:val>
            <c:numRef>
              <c:f>'Сводная диаграмма'!$B$4:$B$10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75-412A-A51E-36186138FCE0}"/>
            </c:ext>
          </c:extLst>
        </c:ser>
        <c:ser>
          <c:idx val="1"/>
          <c:order val="1"/>
          <c:tx>
            <c:strRef>
              <c:f>'Сводная диаграмма'!$C$3</c:f>
              <c:strCache>
                <c:ptCount val="1"/>
                <c:pt idx="0">
                  <c:v>A 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'Сводная диаграмма'!$A$4:$A$10</c:f>
              <c:strCache>
                <c:ptCount val="6"/>
                <c:pt idx="0">
                  <c:v>Албегов Альберт Тамерланович</c:v>
                </c:pt>
                <c:pt idx="1">
                  <c:v>Антоненко Андрей Викторович</c:v>
                </c:pt>
                <c:pt idx="2">
                  <c:v>Дубойский Александр Николаевич</c:v>
                </c:pt>
                <c:pt idx="3">
                  <c:v>Жарков Александр Павлович</c:v>
                </c:pt>
                <c:pt idx="4">
                  <c:v>Зубов Евгений Борисович</c:v>
                </c:pt>
                <c:pt idx="5">
                  <c:v>Первов Роман Игоревич</c:v>
                </c:pt>
              </c:strCache>
            </c:strRef>
          </c:cat>
          <c:val>
            <c:numRef>
              <c:f>'Сводная диаграмма'!$C$4:$C$10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5</c:v>
                </c:pt>
                <c:pt idx="4">
                  <c:v>0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75-412A-A51E-36186138FCE0}"/>
            </c:ext>
          </c:extLst>
        </c:ser>
        <c:ser>
          <c:idx val="2"/>
          <c:order val="2"/>
          <c:tx>
            <c:strRef>
              <c:f>'Сводная диаграмма'!$D$3</c:f>
              <c:strCache>
                <c:ptCount val="1"/>
                <c:pt idx="0">
                  <c:v>B 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'Сводная диаграмма'!$A$4:$A$10</c:f>
              <c:strCache>
                <c:ptCount val="6"/>
                <c:pt idx="0">
                  <c:v>Албегов Альберт Тамерланович</c:v>
                </c:pt>
                <c:pt idx="1">
                  <c:v>Антоненко Андрей Викторович</c:v>
                </c:pt>
                <c:pt idx="2">
                  <c:v>Дубойский Александр Николаевич</c:v>
                </c:pt>
                <c:pt idx="3">
                  <c:v>Жарков Александр Павлович</c:v>
                </c:pt>
                <c:pt idx="4">
                  <c:v>Зубов Евгений Борисович</c:v>
                </c:pt>
                <c:pt idx="5">
                  <c:v>Первов Роман Игоревич</c:v>
                </c:pt>
              </c:strCache>
            </c:strRef>
          </c:cat>
          <c:val>
            <c:numRef>
              <c:f>'Сводная диаграмма'!$D$4:$D$10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75-412A-A51E-36186138FCE0}"/>
            </c:ext>
          </c:extLst>
        </c:ser>
        <c:ser>
          <c:idx val="3"/>
          <c:order val="3"/>
          <c:tx>
            <c:strRef>
              <c:f>'Сводная диаграмма'!$E$3</c:f>
              <c:strCache>
                <c:ptCount val="1"/>
                <c:pt idx="0">
                  <c:v>C 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cat>
            <c:strRef>
              <c:f>'Сводная диаграмма'!$A$4:$A$10</c:f>
              <c:strCache>
                <c:ptCount val="6"/>
                <c:pt idx="0">
                  <c:v>Албегов Альберт Тамерланович</c:v>
                </c:pt>
                <c:pt idx="1">
                  <c:v>Антоненко Андрей Викторович</c:v>
                </c:pt>
                <c:pt idx="2">
                  <c:v>Дубойский Александр Николаевич</c:v>
                </c:pt>
                <c:pt idx="3">
                  <c:v>Жарков Александр Павлович</c:v>
                </c:pt>
                <c:pt idx="4">
                  <c:v>Зубов Евгений Борисович</c:v>
                </c:pt>
                <c:pt idx="5">
                  <c:v>Первов Роман Игоревич</c:v>
                </c:pt>
              </c:strCache>
            </c:strRef>
          </c:cat>
          <c:val>
            <c:numRef>
              <c:f>'Сводная диаграмма'!$E$4:$E$10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7</c:v>
                </c:pt>
                <c:pt idx="4">
                  <c:v>1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75-412A-A51E-36186138FCE0}"/>
            </c:ext>
          </c:extLst>
        </c:ser>
        <c:ser>
          <c:idx val="4"/>
          <c:order val="4"/>
          <c:tx>
            <c:strRef>
              <c:f>'Сводная диаграмма'!$F$3</c:f>
              <c:strCache>
                <c:ptCount val="1"/>
                <c:pt idx="0">
                  <c:v>C- 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'Сводная диаграмма'!$A$4:$A$10</c:f>
              <c:strCache>
                <c:ptCount val="6"/>
                <c:pt idx="0">
                  <c:v>Албегов Альберт Тамерланович</c:v>
                </c:pt>
                <c:pt idx="1">
                  <c:v>Антоненко Андрей Викторович</c:v>
                </c:pt>
                <c:pt idx="2">
                  <c:v>Дубойский Александр Николаевич</c:v>
                </c:pt>
                <c:pt idx="3">
                  <c:v>Жарков Александр Павлович</c:v>
                </c:pt>
                <c:pt idx="4">
                  <c:v>Зубов Евгений Борисович</c:v>
                </c:pt>
                <c:pt idx="5">
                  <c:v>Первов Роман Игоревич</c:v>
                </c:pt>
              </c:strCache>
            </c:strRef>
          </c:cat>
          <c:val>
            <c:numRef>
              <c:f>'Сводная диаграмма'!$F$4:$F$10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75-412A-A51E-36186138F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413760528"/>
        <c:axId val="413762704"/>
      </c:barChart>
      <c:catAx>
        <c:axId val="413760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3762704"/>
        <c:crosses val="autoZero"/>
        <c:auto val="1"/>
        <c:lblAlgn val="ctr"/>
        <c:lblOffset val="100"/>
        <c:noMultiLvlLbl val="0"/>
      </c:catAx>
      <c:valAx>
        <c:axId val="413762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3760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818181818181821"/>
          <c:y val="0.39790470081132773"/>
          <c:w val="7.1122994652406415E-2"/>
          <c:h val="0.356755170854625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[Книга2]Лист1!$A$1</c:f>
          <c:strCache>
            <c:ptCount val="1"/>
            <c:pt idx="0">
              <c:v>Отдел труб и штоков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D6019"/>
            </a:solidFill>
            <a:ln>
              <a:noFill/>
            </a:ln>
            <a:effectLst/>
          </c:spPr>
          <c:invertIfNegative val="0"/>
          <c:cat>
            <c:strRef>
              <c:f>[Книга2]Лист1!$B$1:$B$3</c:f>
              <c:strCache>
                <c:ptCount val="3"/>
                <c:pt idx="0">
                  <c:v>Белозерский Денис Александрович</c:v>
                </c:pt>
                <c:pt idx="1">
                  <c:v>Нечесова Наталья Валерьевна</c:v>
                </c:pt>
                <c:pt idx="2">
                  <c:v>Устинова Мария Александровна</c:v>
                </c:pt>
              </c:strCache>
            </c:strRef>
          </c:cat>
          <c:val>
            <c:numRef>
              <c:f>[Книга2]Лист1!$C$1:$C$3</c:f>
              <c:numCache>
                <c:formatCode>_(* #,##0.00_);_(* \(#,##0.00\);_(* "-"??_);_(@_)</c:formatCode>
                <c:ptCount val="3"/>
                <c:pt idx="0">
                  <c:v>292298217.01999998</c:v>
                </c:pt>
                <c:pt idx="1">
                  <c:v>274155963.67000002</c:v>
                </c:pt>
                <c:pt idx="2">
                  <c:v>198444495.53999999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D4-47BA-92E7-DBDF4ECF0E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962314752"/>
        <c:axId val="1962299520"/>
      </c:barChart>
      <c:catAx>
        <c:axId val="1962314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299520"/>
        <c:crosses val="autoZero"/>
        <c:auto val="1"/>
        <c:lblAlgn val="ctr"/>
        <c:lblOffset val="100"/>
        <c:noMultiLvlLbl val="0"/>
      </c:catAx>
      <c:valAx>
        <c:axId val="1962299520"/>
        <c:scaling>
          <c:orientation val="minMax"/>
          <c:max val="300000000"/>
          <c:min val="2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314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[Книга2]Лист1!$A$4</c:f>
          <c:strCache>
            <c:ptCount val="1"/>
            <c:pt idx="0">
              <c:v>Отдел уплотнений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D6019"/>
            </a:solidFill>
            <a:ln>
              <a:noFill/>
            </a:ln>
            <a:effectLst/>
          </c:spPr>
          <c:invertIfNegative val="0"/>
          <c:cat>
            <c:strRef>
              <c:f>[Книга2]Лист1!$B$4:$B$6</c:f>
              <c:strCache>
                <c:ptCount val="3"/>
                <c:pt idx="0">
                  <c:v>Столяров Владимир Викторович</c:v>
                </c:pt>
                <c:pt idx="1">
                  <c:v>Чернышев Кирилл Анатольевич</c:v>
                </c:pt>
                <c:pt idx="2">
                  <c:v>Андреев Алексей Николаевич</c:v>
                </c:pt>
              </c:strCache>
            </c:strRef>
          </c:cat>
          <c:val>
            <c:numRef>
              <c:f>[Книга2]Лист1!$C$4:$C$6</c:f>
              <c:numCache>
                <c:formatCode>_(* #,##0.00_);_(* \(#,##0.00\);_(* "-"??_);_(@_)</c:formatCode>
                <c:ptCount val="3"/>
                <c:pt idx="0">
                  <c:v>69718888.409999996</c:v>
                </c:pt>
                <c:pt idx="1">
                  <c:v>64383638.990000002</c:v>
                </c:pt>
                <c:pt idx="2">
                  <c:v>63782447.850000001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96-46EC-ABAA-CE555D3424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962305504"/>
        <c:axId val="1962302784"/>
      </c:barChart>
      <c:catAx>
        <c:axId val="196230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302784"/>
        <c:crosses val="autoZero"/>
        <c:auto val="1"/>
        <c:lblAlgn val="ctr"/>
        <c:lblOffset val="100"/>
        <c:noMultiLvlLbl val="0"/>
      </c:catAx>
      <c:valAx>
        <c:axId val="1962302784"/>
        <c:scaling>
          <c:orientation val="minMax"/>
          <c:max val="300000000"/>
          <c:min val="2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305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[Книга2]Лист1!$A$7</c:f>
          <c:strCache>
            <c:ptCount val="1"/>
            <c:pt idx="0">
              <c:v>Производство гидроцилиндров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D6019"/>
            </a:solidFill>
            <a:ln>
              <a:noFill/>
            </a:ln>
            <a:effectLst/>
          </c:spPr>
          <c:invertIfNegative val="0"/>
          <c:cat>
            <c:strRef>
              <c:f>[Книга2]Лист1!$B$7:$B$9</c:f>
              <c:strCache>
                <c:ptCount val="3"/>
                <c:pt idx="0">
                  <c:v>Первов Роман Игоревич</c:v>
                </c:pt>
                <c:pt idx="1">
                  <c:v>Дубойский Александр Николаевич</c:v>
                </c:pt>
                <c:pt idx="2">
                  <c:v>Жарков Александр Павлович</c:v>
                </c:pt>
              </c:strCache>
            </c:strRef>
          </c:cat>
          <c:val>
            <c:numRef>
              <c:f>[Книга2]Лист1!$C$7:$C$9</c:f>
              <c:numCache>
                <c:formatCode>_(* #,##0.00_);_(* \(#,##0.00\);_(* "-"??_);_(@_)</c:formatCode>
                <c:ptCount val="3"/>
                <c:pt idx="0">
                  <c:v>194090051.38</c:v>
                </c:pt>
                <c:pt idx="1">
                  <c:v>135649269.40000001</c:v>
                </c:pt>
                <c:pt idx="2">
                  <c:v>108722902.98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F6-44B0-9C67-71D10E3EF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962304416"/>
        <c:axId val="1962311488"/>
      </c:barChart>
      <c:catAx>
        <c:axId val="196230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311488"/>
        <c:crosses val="autoZero"/>
        <c:auto val="1"/>
        <c:lblAlgn val="ctr"/>
        <c:lblOffset val="100"/>
        <c:noMultiLvlLbl val="0"/>
      </c:catAx>
      <c:valAx>
        <c:axId val="1962311488"/>
        <c:scaling>
          <c:orientation val="minMax"/>
          <c:max val="300000000"/>
          <c:min val="2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304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[Книга2]Лист1!$A$10</c:f>
          <c:strCache>
            <c:ptCount val="1"/>
            <c:pt idx="0">
              <c:v>Трубка и РВД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D6019"/>
            </a:solidFill>
            <a:ln>
              <a:noFill/>
            </a:ln>
            <a:effectLst/>
          </c:spPr>
          <c:invertIfNegative val="0"/>
          <c:cat>
            <c:strRef>
              <c:f>[Книга2]Лист1!$B$10:$B$12</c:f>
              <c:strCache>
                <c:ptCount val="3"/>
                <c:pt idx="0">
                  <c:v>Рудова Евгения Константиновна</c:v>
                </c:pt>
                <c:pt idx="1">
                  <c:v>Леонов Евгений Николаевич</c:v>
                </c:pt>
                <c:pt idx="2">
                  <c:v>Кузнецов Евгений Васильевич</c:v>
                </c:pt>
              </c:strCache>
            </c:strRef>
          </c:cat>
          <c:val>
            <c:numRef>
              <c:f>[Книга2]Лист1!$C$10:$C$12</c:f>
              <c:numCache>
                <c:formatCode>_(* #,##0.00_);_(* \(#,##0.00\);_(* "-"??_);_(@_)</c:formatCode>
                <c:ptCount val="3"/>
                <c:pt idx="0">
                  <c:v>55395162.07</c:v>
                </c:pt>
                <c:pt idx="1">
                  <c:v>53343303.710000001</c:v>
                </c:pt>
                <c:pt idx="2">
                  <c:v>50765984.350000001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DB-47EE-BD89-58DCBBCFB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962312032"/>
        <c:axId val="1962313664"/>
      </c:barChart>
      <c:catAx>
        <c:axId val="196231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313664"/>
        <c:crosses val="autoZero"/>
        <c:auto val="1"/>
        <c:lblAlgn val="ctr"/>
        <c:lblOffset val="100"/>
        <c:noMultiLvlLbl val="0"/>
      </c:catAx>
      <c:valAx>
        <c:axId val="1962313664"/>
        <c:scaling>
          <c:orientation val="minMax"/>
          <c:max val="300000000"/>
          <c:min val="2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2312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'[06 Топ 3 менеджеры.xlsx]ТОП по сумме2'!$A$1</c:f>
          <c:strCache>
            <c:ptCount val="1"/>
            <c:pt idx="0">
              <c:v>Отдел труб и штоков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1FB8C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'[06 Топ 3 менеджеры.xlsx]ТОП по сумме2'!$B$1:$B$3</c:f>
              <c:strCache>
                <c:ptCount val="3"/>
                <c:pt idx="0">
                  <c:v>Поздеев Дмитрий Михайлович</c:v>
                </c:pt>
                <c:pt idx="1">
                  <c:v>Устинова Мария Александровна</c:v>
                </c:pt>
                <c:pt idx="2">
                  <c:v>Белозерский Денис Александрович</c:v>
                </c:pt>
              </c:strCache>
            </c:strRef>
          </c:cat>
          <c:val>
            <c:numRef>
              <c:f>'[06 Топ 3 менеджеры.xlsx]ТОП по сумме2'!$C$1:$C$3</c:f>
              <c:numCache>
                <c:formatCode>_(* #,##0.00_);_(* \(#,##0.00\);_(* "-"??_);_(@_)</c:formatCode>
                <c:ptCount val="3"/>
                <c:pt idx="0">
                  <c:v>604</c:v>
                </c:pt>
                <c:pt idx="1">
                  <c:v>469</c:v>
                </c:pt>
                <c:pt idx="2">
                  <c:v>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42-4CE3-B6DB-ED3AB51C6E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79835440"/>
        <c:axId val="1479841968"/>
      </c:barChart>
      <c:catAx>
        <c:axId val="147983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968"/>
        <c:crosses val="autoZero"/>
        <c:auto val="1"/>
        <c:lblAlgn val="ctr"/>
        <c:lblOffset val="100"/>
        <c:noMultiLvlLbl val="0"/>
      </c:catAx>
      <c:valAx>
        <c:axId val="1479841968"/>
        <c:scaling>
          <c:orientation val="minMax"/>
          <c:max val="650"/>
          <c:min val="0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147983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'[06 Топ 3 менеджеры.xlsx]ТОП по сумме2'!$A$4</c:f>
          <c:strCache>
            <c:ptCount val="1"/>
            <c:pt idx="0">
              <c:v>Отдел уплотнений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1FB8C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'[06 Топ 3 менеджеры.xlsx]ТОП по сумме2'!$B$4:$B$6</c:f>
              <c:strCache>
                <c:ptCount val="3"/>
                <c:pt idx="0">
                  <c:v>Вигурин Владимир Олегович</c:v>
                </c:pt>
                <c:pt idx="1">
                  <c:v>Муравлёв Андрей Петрович</c:v>
                </c:pt>
                <c:pt idx="2">
                  <c:v>Малахов Алексей Александрович</c:v>
                </c:pt>
              </c:strCache>
            </c:strRef>
          </c:cat>
          <c:val>
            <c:numRef>
              <c:f>'[06 Топ 3 менеджеры.xlsx]ТОП по сумме2'!$C$4:$C$6</c:f>
              <c:numCache>
                <c:formatCode>_(* #,##0.00_);_(* \(#,##0.00\);_(* "-"??_);_(@_)</c:formatCode>
                <c:ptCount val="3"/>
                <c:pt idx="0">
                  <c:v>227</c:v>
                </c:pt>
                <c:pt idx="1">
                  <c:v>217</c:v>
                </c:pt>
                <c:pt idx="2">
                  <c:v>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49-458A-84E1-F7D0C8C127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79839248"/>
        <c:axId val="1479835984"/>
      </c:barChart>
      <c:catAx>
        <c:axId val="1479839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35984"/>
        <c:crosses val="autoZero"/>
        <c:auto val="1"/>
        <c:lblAlgn val="ctr"/>
        <c:lblOffset val="100"/>
        <c:noMultiLvlLbl val="0"/>
      </c:catAx>
      <c:valAx>
        <c:axId val="1479835984"/>
        <c:scaling>
          <c:orientation val="minMax"/>
          <c:max val="650"/>
          <c:min val="0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1479839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'[06 Топ 3 менеджеры.xlsx]ТОП по сумме2'!$A$7</c:f>
          <c:strCache>
            <c:ptCount val="1"/>
            <c:pt idx="0">
              <c:v>Производство гидроцилиндров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1FB8C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'[06 Топ 3 менеджеры.xlsx]ТОП по сумме2'!$B$7:$B$9</c:f>
              <c:strCache>
                <c:ptCount val="3"/>
                <c:pt idx="0">
                  <c:v>Первов Роман Игоревич</c:v>
                </c:pt>
                <c:pt idx="1">
                  <c:v>Дубойский Александр Николаевич</c:v>
                </c:pt>
                <c:pt idx="2">
                  <c:v>Албегов Альберт Тамерланович</c:v>
                </c:pt>
              </c:strCache>
            </c:strRef>
          </c:cat>
          <c:val>
            <c:numRef>
              <c:f>'[06 Топ 3 менеджеры.xlsx]ТОП по сумме2'!$C$7:$C$9</c:f>
              <c:numCache>
                <c:formatCode>_(* #,##0.00_);_(* \(#,##0.00\);_(* "-"??_);_(@_)</c:formatCode>
                <c:ptCount val="3"/>
                <c:pt idx="0">
                  <c:v>115</c:v>
                </c:pt>
                <c:pt idx="1">
                  <c:v>50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2-44B4-AC34-22A095B613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79833808"/>
        <c:axId val="1479844688"/>
      </c:barChart>
      <c:catAx>
        <c:axId val="147983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4688"/>
        <c:crosses val="autoZero"/>
        <c:auto val="1"/>
        <c:lblAlgn val="ctr"/>
        <c:lblOffset val="100"/>
        <c:noMultiLvlLbl val="0"/>
      </c:catAx>
      <c:valAx>
        <c:axId val="1479844688"/>
        <c:scaling>
          <c:orientation val="minMax"/>
          <c:max val="650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147983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'[06 Топ 3 менеджеры.xlsx]ТОП по сумме2'!$A$10</c:f>
          <c:strCache>
            <c:ptCount val="1"/>
            <c:pt idx="0">
              <c:v>Трубка и РВД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1FB8C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'[06 Топ 3 менеджеры.xlsx]ТОП по сумме2'!$B$10:$B$12</c:f>
              <c:strCache>
                <c:ptCount val="3"/>
                <c:pt idx="0">
                  <c:v>Самбурова Ольга Владиславовна</c:v>
                </c:pt>
                <c:pt idx="1">
                  <c:v>Грозова Лариса Николаевна</c:v>
                </c:pt>
                <c:pt idx="2">
                  <c:v>Рудова Евгения Константиновна</c:v>
                </c:pt>
              </c:strCache>
            </c:strRef>
          </c:cat>
          <c:val>
            <c:numRef>
              <c:f>'[06 Топ 3 менеджеры.xlsx]ТОП по сумме2'!$C$10:$C$12</c:f>
              <c:numCache>
                <c:formatCode>_(* #,##0.00_);_(* \(#,##0.00\);_(* "-"??_);_(@_)</c:formatCode>
                <c:ptCount val="3"/>
                <c:pt idx="0">
                  <c:v>312</c:v>
                </c:pt>
                <c:pt idx="1">
                  <c:v>284</c:v>
                </c:pt>
                <c:pt idx="2">
                  <c:v>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99-40B0-9BC2-2CA4FC227F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79840880"/>
        <c:axId val="1479839792"/>
      </c:barChart>
      <c:catAx>
        <c:axId val="1479840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39792"/>
        <c:crosses val="autoZero"/>
        <c:auto val="1"/>
        <c:lblAlgn val="ctr"/>
        <c:lblOffset val="100"/>
        <c:noMultiLvlLbl val="0"/>
      </c:catAx>
      <c:valAx>
        <c:axId val="1479839792"/>
        <c:scaling>
          <c:orientation val="minMax"/>
          <c:max val="650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1479840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419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59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4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25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09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93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8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15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63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9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5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2FC1-3C46-46C6-9963-165DEDEDEF9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6A27C-1B7E-42F8-AE97-1E4C3FAA2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77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.bin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8.png"/><Relationship Id="rId4" Type="http://schemas.openxmlformats.org/officeDocument/2006/relationships/hyperlink" Target="https://github.com/Tolstyakoff/Practice_25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png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7.png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8.png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3.png"/><Relationship Id="rId4" Type="http://schemas.openxmlformats.org/officeDocument/2006/relationships/image" Target="../media/image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5.png"/><Relationship Id="rId4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oleObject" Target="../embeddings/oleObject1.bin"/><Relationship Id="rId7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36.png"/><Relationship Id="rId4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chart" Target="../charts/chart9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41.png"/><Relationship Id="rId4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lstyakoff/Practice_2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lab.research.google.com/drive/1lMQbqkshmTA4r5-4CU6yqwHFvve-HUmi" TargetMode="External"/><Relationship Id="rId5" Type="http://schemas.openxmlformats.org/officeDocument/2006/relationships/hyperlink" Target="https://colab.research.google.com/drive/1PBb-vZB5xXkh4hghZEr5SdQLnLmaE-TF" TargetMode="External"/><Relationship Id="rId4" Type="http://schemas.openxmlformats.org/officeDocument/2006/relationships/hyperlink" Target="https://colab.research.google.com/drive/1CuB3sHqaRaXzxlNXFXm334VfEb_60qW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393" y="0"/>
            <a:ext cx="399060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Анализ эффективности работы </a:t>
            </a:r>
            <a:endParaRPr lang="en-US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отдела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продаж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3459" y="5120363"/>
            <a:ext cx="530615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 Black" panose="020B0A04020102020204" pitchFamily="34" charset="0"/>
              </a:rPr>
              <a:t>Выполнил:</a:t>
            </a:r>
          </a:p>
          <a:p>
            <a:r>
              <a:rPr lang="ru-RU" sz="2000" b="1" dirty="0" smtClean="0">
                <a:latin typeface="Arial Black" panose="020B0A04020102020204" pitchFamily="34" charset="0"/>
              </a:rPr>
              <a:t>студент </a:t>
            </a:r>
            <a:r>
              <a:rPr lang="ru-RU" sz="2000" b="1" dirty="0">
                <a:latin typeface="Arial Black" panose="020B0A04020102020204" pitchFamily="34" charset="0"/>
              </a:rPr>
              <a:t>группы: М1-М25</a:t>
            </a:r>
          </a:p>
          <a:p>
            <a:r>
              <a:rPr lang="ru-RU" sz="2000" b="1" dirty="0" smtClean="0">
                <a:latin typeface="Arial Black" panose="020B0A04020102020204" pitchFamily="34" charset="0"/>
              </a:rPr>
              <a:t>Толстяков Роман </a:t>
            </a:r>
            <a:r>
              <a:rPr lang="ru-RU" sz="2000" b="1" dirty="0">
                <a:latin typeface="Arial Black" panose="020B0A04020102020204" pitchFamily="34" charset="0"/>
              </a:rPr>
              <a:t>Рашидович</a:t>
            </a:r>
          </a:p>
          <a:p>
            <a:endParaRPr lang="ru-RU" sz="1100" b="1" dirty="0"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545" y="2599584"/>
            <a:ext cx="6960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Arial Black" panose="020B0A04020102020204" pitchFamily="34" charset="0"/>
              </a:rPr>
              <a:t>Отчет по учебной практике</a:t>
            </a:r>
            <a:endParaRPr lang="ru-RU" sz="1400" b="1" dirty="0">
              <a:latin typeface="Arial Black" panose="020B0A04020102020204" pitchFamily="34" charset="0"/>
            </a:endParaRPr>
          </a:p>
        </p:txBody>
      </p:sp>
      <p:sp>
        <p:nvSpPr>
          <p:cNvPr id="11" name="Прямоугольный треугольник 10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8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8" y="3376390"/>
            <a:ext cx="7850414" cy="33255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Исходные данные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53505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CorelDRAW" r:id="rId4" imgW="2195411" imgH="5393160" progId="CorelDraw.Graphic.22">
                  <p:embed/>
                </p:oleObj>
              </mc:Choice>
              <mc:Fallback>
                <p:oleObj name="CorelDRAW" r:id="rId4" imgW="2195411" imgH="5393160" progId="CorelDraw.Graphic.22">
                  <p:embed/>
                  <p:pic>
                    <p:nvPicPr>
                      <p:cNvPr id="7" name="Объект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221" y="944955"/>
            <a:ext cx="696078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Данные от транзакциях:</a:t>
            </a:r>
          </a:p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отдел</a:t>
            </a: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менеджер</a:t>
            </a: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контрагент</a:t>
            </a: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сумма сделок за месяц</a:t>
            </a: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итоговая сумма</a:t>
            </a:r>
            <a:endParaRPr lang="ru-RU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39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Требуется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09221" y="944955"/>
            <a:ext cx="112206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Отчеты:</a:t>
            </a:r>
          </a:p>
          <a:p>
            <a:endParaRPr lang="ru-RU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1. по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отделам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(количество клиентов и сумма) 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2. количество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продаж по каждому менеджеру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(вид: менеджер/клиент/кол-во сделок/сумма)</a:t>
            </a: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3. по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менеджерам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(количество клиентов и сумма) 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4. количество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клиентов в работе у каждого менеджера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(за последние три месяца)</a:t>
            </a: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топ-25 клиентов в работе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(по менеджеру и подразделению)</a:t>
            </a: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топ-3 менеджера по каждому подразделению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(количество продаж и сумма)</a:t>
            </a: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потерянные клиенты первая половина 2025г, ко второй половине 2025 </a:t>
            </a:r>
            <a:endParaRPr lang="ru-R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кто покупал в первые 6 мес. и потом нет)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 отделам и менеджерам.</a:t>
            </a:r>
          </a:p>
          <a:p>
            <a:r>
              <a:rPr lang="ru-RU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ru-RU" sz="2000" dirty="0">
                <a:solidFill>
                  <a:srgbClr val="FF0000"/>
                </a:solidFill>
              </a:rPr>
              <a:t>под количеством клиентов имеется ввиду не только сводная таблица, но и их список</a:t>
            </a:r>
            <a:endParaRPr lang="ru-RU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889626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CorelDRAW" r:id="rId3" imgW="5054293" imgH="5342418" progId="CorelDraw.Graphic.22">
                  <p:embed/>
                </p:oleObj>
              </mc:Choice>
              <mc:Fallback>
                <p:oleObj name="CorelDRAW" r:id="rId3" imgW="5054293" imgH="5342418" progId="CorelDraw.Graphic.22">
                  <p:embed/>
                  <p:pic>
                    <p:nvPicPr>
                      <p:cNvPr id="7" name="Объект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880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3"/>
          <a:stretch>
            <a:fillRect/>
          </a:stretch>
        </p:blipFill>
        <p:spPr>
          <a:xfrm>
            <a:off x="321627" y="1171392"/>
            <a:ext cx="10122242" cy="2529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99802" y="971358"/>
            <a:ext cx="1044068" cy="58477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Excel</a:t>
            </a:r>
            <a:endParaRPr lang="ru-RU" sz="32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l="506" t="1050" r="16290" b="22586"/>
          <a:stretch/>
        </p:blipFill>
        <p:spPr>
          <a:xfrm>
            <a:off x="304800" y="4049486"/>
            <a:ext cx="10128070" cy="25341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19464" y="3701141"/>
            <a:ext cx="1404744" cy="58477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Python</a:t>
            </a:r>
            <a:endParaRPr lang="ru-RU" sz="32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24099" y="3249267"/>
            <a:ext cx="7794171" cy="160043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600" b="0" dirty="0" smtClean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sz="1600" b="0" dirty="0" smtClean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 err="1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</a:t>
            </a:r>
            <a:endParaRPr lang="en-US" sz="1600" b="0" dirty="0" smtClean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/>
            </a:r>
            <a:b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600" b="0" dirty="0" smtClean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1600" b="0" dirty="0" smtClean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Конвертация табличных данных</a:t>
            </a:r>
            <a:endParaRPr lang="ru-RU" sz="1600" b="0" dirty="0" smtClean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600" b="0" dirty="0" err="1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600" b="0" dirty="0" err="1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pd.read_excel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1600" b="0" dirty="0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Подготовленные данные.</a:t>
            </a:r>
            <a:r>
              <a:rPr lang="en-US" sz="1600" b="0" dirty="0" err="1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xlsx</a:t>
            </a:r>
            <a:r>
              <a:rPr lang="en-US" sz="1600" b="0" dirty="0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600" b="0" dirty="0" err="1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df.to_csv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"Sales_25.csv"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encoding=</a:t>
            </a:r>
            <a:r>
              <a:rPr lang="en-US" sz="1600" b="0" dirty="0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'utf-8-sig'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index=</a:t>
            </a:r>
            <a:r>
              <a:rPr lang="en-US" sz="1600" b="0" dirty="0" smtClean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600" b="0" dirty="0" smtClean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1600" b="0" dirty="0" smtClean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Конвертация завершена!"</a:t>
            </a:r>
            <a:r>
              <a:rPr lang="ru-RU" sz="1600" b="0" dirty="0" smtClean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endParaRPr lang="ru-RU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Подготовка данных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ый треугольник 7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892432"/>
              </p:ext>
            </p:extLst>
          </p:nvPr>
        </p:nvGraphicFramePr>
        <p:xfrm>
          <a:off x="10226735" y="4085882"/>
          <a:ext cx="1991392" cy="2830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CorelDRAW" r:id="rId5" imgW="2893757" imgH="4112668" progId="CorelDraw.Graphic.22">
                  <p:embed/>
                </p:oleObj>
              </mc:Choice>
              <mc:Fallback>
                <p:oleObj name="CorelDRAW" r:id="rId5" imgW="2893757" imgH="4112668" progId="CorelDraw.Graphic.22">
                  <p:embed/>
                  <p:pic>
                    <p:nvPicPr>
                      <p:cNvPr id="20" name="Объект 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26735" y="4085882"/>
                        <a:ext cx="1991392" cy="2830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235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Инструментарий анализа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ый треугольник 4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6" y="1405796"/>
            <a:ext cx="6894401" cy="9772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6" y="4638725"/>
            <a:ext cx="11184482" cy="1752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98342" y="3288471"/>
            <a:ext cx="1092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505600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CorelDRAW" r:id="rId5" imgW="5054293" imgH="5342418" progId="CorelDraw.Graphic.22">
                  <p:embed/>
                </p:oleObj>
              </mc:Choice>
              <mc:Fallback>
                <p:oleObj name="CorelDRAW" r:id="rId5" imgW="5054293" imgH="5342418" progId="CorelDraw.Graphic.22">
                  <p:embed/>
                  <p:pic>
                    <p:nvPicPr>
                      <p:cNvPr id="8" name="Объект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464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330101"/>
              </p:ext>
            </p:extLst>
          </p:nvPr>
        </p:nvGraphicFramePr>
        <p:xfrm>
          <a:off x="9850408" y="4468701"/>
          <a:ext cx="2601837" cy="2407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name="CorelDRAW" r:id="rId3" imgW="3964668" imgH="3335760" progId="CorelDraw.Graphic.22">
                  <p:embed/>
                </p:oleObj>
              </mc:Choice>
              <mc:Fallback>
                <p:oleObj name="CorelDRAW" r:id="rId3" imgW="3964668" imgH="3335760" progId="CorelDraw.Graphic.22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50408" y="4468701"/>
                        <a:ext cx="2601837" cy="2407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Создание таблицы в БД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1" y="982064"/>
            <a:ext cx="3991532" cy="3486637"/>
          </a:xfrm>
          <a:prstGeom prst="rect">
            <a:avLst/>
          </a:prstGeom>
        </p:spPr>
      </p:pic>
      <p:sp>
        <p:nvSpPr>
          <p:cNvPr id="6" name="Стрелка углом 5"/>
          <p:cNvSpPr/>
          <p:nvPr/>
        </p:nvSpPr>
        <p:spPr>
          <a:xfrm rot="5400000">
            <a:off x="4635136" y="1546520"/>
            <a:ext cx="1680755" cy="3600994"/>
          </a:xfrm>
          <a:prstGeom prst="bentArrow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666" y="4468701"/>
            <a:ext cx="4429743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7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Классификация контрагентов по сумме сделок и количеству сделок</a:t>
            </a:r>
            <a:r>
              <a:rPr lang="en-US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за год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60589"/>
              </p:ext>
            </p:extLst>
          </p:nvPr>
        </p:nvGraphicFramePr>
        <p:xfrm>
          <a:off x="387529" y="2202699"/>
          <a:ext cx="3971111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467">
                  <a:extLst>
                    <a:ext uri="{9D8B030D-6E8A-4147-A177-3AD203B41FA5}">
                      <a16:colId xmlns:a16="http://schemas.microsoft.com/office/drawing/2014/main" val="1703039618"/>
                    </a:ext>
                  </a:extLst>
                </a:gridCol>
                <a:gridCol w="3730644">
                  <a:extLst>
                    <a:ext uri="{9D8B030D-6E8A-4147-A177-3AD203B41FA5}">
                      <a16:colId xmlns:a16="http://schemas.microsoft.com/office/drawing/2014/main" val="78283115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A+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 продаж  по отделу боле 5 млн.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5855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 продаж  по отделу от 1 до 5 млн.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546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 продаж  по отделу от 0.5 до 1 млн.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432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 продаж  менее 0.5 млн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411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С-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Отрицательный </a:t>
                      </a:r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баланс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5688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35130" y="1601696"/>
            <a:ext cx="412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Подход к классификации</a:t>
            </a:r>
            <a:endParaRPr lang="ru-RU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478462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CorelDRAW" r:id="rId3" imgW="5054293" imgH="5342418" progId="CorelDraw.Graphic.22">
                  <p:embed/>
                </p:oleObj>
              </mc:Choice>
              <mc:Fallback>
                <p:oleObj name="CorelDRAW" r:id="rId3" imgW="5054293" imgH="5342418" progId="CorelDraw.Graphic.22">
                  <p:embed/>
                  <p:pic>
                    <p:nvPicPr>
                      <p:cNvPr id="8" name="Объект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569" y="2474705"/>
            <a:ext cx="800211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5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4" y="1462490"/>
            <a:ext cx="10066760" cy="4607383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96291"/>
              </p:ext>
            </p:extLst>
          </p:nvPr>
        </p:nvGraphicFramePr>
        <p:xfrm>
          <a:off x="10200608" y="4027667"/>
          <a:ext cx="1991392" cy="2830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CorelDRAW" r:id="rId4" imgW="2893757" imgH="4112668" progId="CorelDraw.Graphic.22">
                  <p:embed/>
                </p:oleObj>
              </mc:Choice>
              <mc:Fallback>
                <p:oleObj name="CorelDRAW" r:id="rId4" imgW="2893757" imgH="4112668" progId="CorelDraw.Graphic.22">
                  <p:embed/>
                  <p:pic>
                    <p:nvPicPr>
                      <p:cNvPr id="9" name="Объект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00608" y="4027667"/>
                        <a:ext cx="1991392" cy="2830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  <a:r>
              <a:rPr lang="ru-RU" sz="2800" dirty="0" smtClean="0">
                <a:solidFill>
                  <a:srgbClr val="FD601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Отчет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отделам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и сумма)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ый треугольник 4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147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  <a:r>
              <a:rPr lang="ru-RU" sz="2800" dirty="0">
                <a:solidFill>
                  <a:srgbClr val="FD601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Отчет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отделам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и сумма)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00296" y="1456081"/>
            <a:ext cx="412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  <a:endParaRPr lang="ru-RU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515" y="1563278"/>
            <a:ext cx="8194766" cy="1093607"/>
          </a:xfrm>
          <a:prstGeom prst="rect">
            <a:avLst/>
          </a:prstGeom>
        </p:spPr>
      </p:pic>
      <p:graphicFrame>
        <p:nvGraphicFramePr>
          <p:cNvPr id="8" name="Диаграмма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031207"/>
              </p:ext>
            </p:extLst>
          </p:nvPr>
        </p:nvGraphicFramePr>
        <p:xfrm>
          <a:off x="200296" y="2764082"/>
          <a:ext cx="5255623" cy="3729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Диаграмма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1298101"/>
              </p:ext>
            </p:extLst>
          </p:nvPr>
        </p:nvGraphicFramePr>
        <p:xfrm>
          <a:off x="5011782" y="3328505"/>
          <a:ext cx="6310448" cy="3257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93072" y="6370436"/>
            <a:ext cx="338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Категории клиентов</a:t>
            </a:r>
            <a:endParaRPr lang="ru-RU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66855" y="6370436"/>
            <a:ext cx="3962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Количество и сумма</a:t>
            </a:r>
            <a:endParaRPr lang="ru-RU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474297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name="CorelDRAW" r:id="rId6" imgW="5054293" imgH="5342418" progId="CorelDraw.Graphic.22">
                  <p:embed/>
                </p:oleObj>
              </mc:Choice>
              <mc:Fallback>
                <p:oleObj name="CorelDRAW" r:id="rId6" imgW="5054293" imgH="5342418" progId="CorelDraw.Graphic.22">
                  <p:embed/>
                  <p:pic>
                    <p:nvPicPr>
                      <p:cNvPr id="9" name="Объект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660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Отчет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отделам: </a:t>
            </a:r>
            <a:r>
              <a:rPr lang="ru-RU" sz="28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списки по отделам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05" y="1457049"/>
            <a:ext cx="8707065" cy="3943900"/>
          </a:xfrm>
          <a:prstGeom prst="rect">
            <a:avLst/>
          </a:prstGeom>
        </p:spPr>
      </p:pic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137463"/>
              </p:ext>
            </p:extLst>
          </p:nvPr>
        </p:nvGraphicFramePr>
        <p:xfrm>
          <a:off x="9227750" y="3831772"/>
          <a:ext cx="3279347" cy="303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CorelDRAW" r:id="rId4" imgW="3964668" imgH="3335760" progId="CorelDraw.Graphic.22">
                  <p:embed/>
                </p:oleObj>
              </mc:Choice>
              <mc:Fallback>
                <p:oleObj name="CorelDRAW" r:id="rId4" imgW="3964668" imgH="3335760" progId="CorelDraw.Graphic.22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27750" y="3831772"/>
                        <a:ext cx="3279347" cy="3034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956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Отчет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отделам: </a:t>
            </a:r>
            <a:r>
              <a:rPr lang="ru-RU" sz="28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таблицы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71" y="1056369"/>
            <a:ext cx="5334744" cy="5163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2124" y="1749742"/>
            <a:ext cx="5590906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Результаты в формате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://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github.com/Tolstyakoff/Practice_25</a:t>
            </a:r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941" y="3622766"/>
            <a:ext cx="2786744" cy="2671826"/>
          </a:xfrm>
          <a:prstGeom prst="rect">
            <a:avLst/>
          </a:prstGeom>
        </p:spPr>
      </p:pic>
      <p:sp>
        <p:nvSpPr>
          <p:cNvPr id="7" name="Стрелка вниз 6"/>
          <p:cNvSpPr/>
          <p:nvPr/>
        </p:nvSpPr>
        <p:spPr>
          <a:xfrm>
            <a:off x="6953633" y="2926987"/>
            <a:ext cx="975360" cy="757646"/>
          </a:xfrm>
          <a:prstGeom prst="downArrow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840760"/>
              </p:ext>
            </p:extLst>
          </p:nvPr>
        </p:nvGraphicFramePr>
        <p:xfrm>
          <a:off x="10226735" y="4085882"/>
          <a:ext cx="1991392" cy="2830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CorelDRAW" r:id="rId6" imgW="2893757" imgH="4112668" progId="CorelDraw.Graphic.22">
                  <p:embed/>
                </p:oleObj>
              </mc:Choice>
              <mc:Fallback>
                <p:oleObj name="CorelDRAW" r:id="rId6" imgW="2893757" imgH="4112668" progId="CorelDraw.Graphic.22">
                  <p:embed/>
                  <p:pic>
                    <p:nvPicPr>
                      <p:cNvPr id="9" name="Объект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26735" y="4085882"/>
                        <a:ext cx="1991392" cy="2830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204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01" y="1598257"/>
            <a:ext cx="10559543" cy="484087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02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продаж по каждому менеджеру 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124321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CorelDRAW" r:id="rId4" imgW="5054293" imgH="5342418" progId="CorelDraw.Graphic.22">
                  <p:embed/>
                </p:oleObj>
              </mc:Choice>
              <mc:Fallback>
                <p:oleObj name="CorelDRAW" r:id="rId4" imgW="5054293" imgH="5342418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998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02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продаж по каждому менеджеру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51896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5" name="CorelDRAW" r:id="rId3" imgW="2195411" imgH="5393160" progId="CorelDraw.Graphic.22">
                  <p:embed/>
                </p:oleObj>
              </mc:Choice>
              <mc:Fallback>
                <p:oleObj name="CorelDRAW" r:id="rId3" imgW="2195411" imgH="5393160" progId="CorelDraw.Graphic.22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29" y="1686780"/>
            <a:ext cx="10221426" cy="47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3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02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продаж по каждому менеджеру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304989"/>
              </p:ext>
            </p:extLst>
          </p:nvPr>
        </p:nvGraphicFramePr>
        <p:xfrm>
          <a:off x="351879" y="1801671"/>
          <a:ext cx="7827917" cy="4506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79796" y="1801671"/>
            <a:ext cx="36638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Реализовано с помощью сводной диаграммы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 smtClean="0">
                <a:solidFill>
                  <a:srgbClr val="1F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перспективе перенести в </a:t>
            </a:r>
          </a:p>
          <a:p>
            <a:r>
              <a:rPr lang="en-US" sz="2000" dirty="0" err="1" smtClean="0">
                <a:solidFill>
                  <a:srgbClr val="1F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Metabase</a:t>
            </a:r>
            <a:endParaRPr lang="ru-RU" sz="1050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94855" y="6308357"/>
            <a:ext cx="338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Категории клиентов</a:t>
            </a:r>
            <a:endParaRPr lang="ru-RU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61972"/>
              </p:ext>
            </p:extLst>
          </p:nvPr>
        </p:nvGraphicFramePr>
        <p:xfrm>
          <a:off x="10226735" y="4085882"/>
          <a:ext cx="1991392" cy="2830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CorelDRAW" r:id="rId4" imgW="2893757" imgH="4112668" progId="CorelDraw.Graphic.22">
                  <p:embed/>
                </p:oleObj>
              </mc:Choice>
              <mc:Fallback>
                <p:oleObj name="CorelDRAW" r:id="rId4" imgW="2893757" imgH="4112668" progId="CorelDraw.Graphic.22">
                  <p:embed/>
                  <p:pic>
                    <p:nvPicPr>
                      <p:cNvPr id="8" name="Объект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26735" y="4085882"/>
                        <a:ext cx="1991392" cy="2830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797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03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менеджерам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и сумма)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124321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1" name="CorelDRAW" r:id="rId3" imgW="5054293" imgH="5342418" progId="CorelDraw.Graphic.22">
                  <p:embed/>
                </p:oleObj>
              </mc:Choice>
              <mc:Fallback>
                <p:oleObj name="CorelDRAW" r:id="rId3" imgW="5054293" imgH="5342418" progId="CorelDraw.Graphic.22">
                  <p:embed/>
                  <p:pic>
                    <p:nvPicPr>
                      <p:cNvPr id="10" name="Объект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202" y="1383660"/>
            <a:ext cx="7704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Список контрагентов для менеджера</a:t>
            </a:r>
            <a:endParaRPr lang="ru-RU" sz="1050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02" y="1719039"/>
            <a:ext cx="8941604" cy="39676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6193" y="3559297"/>
            <a:ext cx="4019697" cy="3298703"/>
          </a:xfrm>
          <a:prstGeom prst="rect">
            <a:avLst/>
          </a:prstGeom>
        </p:spPr>
      </p:pic>
      <p:sp>
        <p:nvSpPr>
          <p:cNvPr id="9" name="Стрелка углом 8"/>
          <p:cNvSpPr/>
          <p:nvPr/>
        </p:nvSpPr>
        <p:spPr>
          <a:xfrm rot="5400000">
            <a:off x="9390229" y="2480887"/>
            <a:ext cx="871597" cy="1450443"/>
          </a:xfrm>
          <a:prstGeom prst="bentArrow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52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03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менеджерам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и сумма)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33077" y="1538925"/>
            <a:ext cx="7704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Для формирования файлов со списками контрагентов по каждому менеджеру воспользуемся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Phyton</a:t>
            </a:r>
            <a:endParaRPr lang="ru-RU" sz="1050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076" y="2521991"/>
            <a:ext cx="94028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SQL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запрос для формирования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CSV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файла для загрузки в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Phyton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с категориями клиентов суммарно по каждому менеджеру)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050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81" y="3987283"/>
            <a:ext cx="9364382" cy="2210108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065186"/>
              </p:ext>
            </p:extLst>
          </p:nvPr>
        </p:nvGraphicFramePr>
        <p:xfrm>
          <a:off x="10226735" y="4085882"/>
          <a:ext cx="1991392" cy="2830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7" name="CorelDRAW" r:id="rId4" imgW="2893757" imgH="4112668" progId="CorelDraw.Graphic.22">
                  <p:embed/>
                </p:oleObj>
              </mc:Choice>
              <mc:Fallback>
                <p:oleObj name="CorelDRAW" r:id="rId4" imgW="2893757" imgH="4112668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26735" y="4085882"/>
                        <a:ext cx="1991392" cy="2830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18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03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менеджерам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и сумма)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124321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CorelDRAW" r:id="rId3" imgW="5054293" imgH="5342418" progId="CorelDraw.Graphic.22">
                  <p:embed/>
                </p:oleObj>
              </mc:Choice>
              <mc:Fallback>
                <p:oleObj name="CorelDRAW" r:id="rId3" imgW="5054293" imgH="5342418" progId="CorelDraw.Graphic.22">
                  <p:embed/>
                  <p:pic>
                    <p:nvPicPr>
                      <p:cNvPr id="10" name="Объект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3076" y="1389876"/>
            <a:ext cx="9402809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 цикле для каждого менеджера создается свой запрос, различается только оператором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Where -&gt;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 запроса выгружается в отдельный файл с ФИО менеджера / единый файл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 листам</a:t>
            </a:r>
            <a:endParaRPr lang="en-US" sz="2000" b="1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050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1445" y="5502537"/>
            <a:ext cx="20247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</a:p>
          <a:p>
            <a:r>
              <a:rPr lang="ru-RU" sz="2000" b="1" dirty="0" smtClean="0">
                <a:solidFill>
                  <a:srgbClr val="1F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создано 42 файла / листа</a:t>
            </a:r>
            <a:endParaRPr lang="ru-RU" sz="1050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Стрелка вниз 11"/>
          <p:cNvSpPr/>
          <p:nvPr/>
        </p:nvSpPr>
        <p:spPr>
          <a:xfrm rot="16200000">
            <a:off x="2684456" y="5938524"/>
            <a:ext cx="613955" cy="757646"/>
          </a:xfrm>
          <a:prstGeom prst="downArrow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949" y="3158759"/>
            <a:ext cx="6493691" cy="3658823"/>
          </a:xfrm>
          <a:prstGeom prst="rect">
            <a:avLst/>
          </a:prstGeom>
        </p:spPr>
      </p:pic>
      <p:sp>
        <p:nvSpPr>
          <p:cNvPr id="14" name="Стрелка углом 13"/>
          <p:cNvSpPr/>
          <p:nvPr/>
        </p:nvSpPr>
        <p:spPr>
          <a:xfrm rot="5400000">
            <a:off x="9173575" y="1621795"/>
            <a:ext cx="692607" cy="1092325"/>
          </a:xfrm>
          <a:prstGeom prst="bentArrow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68" y="3158406"/>
            <a:ext cx="1724266" cy="1752845"/>
          </a:xfrm>
          <a:prstGeom prst="rect">
            <a:avLst/>
          </a:prstGeom>
        </p:spPr>
      </p:pic>
      <p:grpSp>
        <p:nvGrpSpPr>
          <p:cNvPr id="21" name="Группа 20"/>
          <p:cNvGrpSpPr/>
          <p:nvPr/>
        </p:nvGrpSpPr>
        <p:grpSpPr>
          <a:xfrm>
            <a:off x="1133439" y="2606784"/>
            <a:ext cx="10544755" cy="375957"/>
            <a:chOff x="1133439" y="2606784"/>
            <a:chExt cx="10544755" cy="375957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3605348" y="2606784"/>
              <a:ext cx="8072846" cy="369332"/>
            </a:xfrm>
            <a:prstGeom prst="rect">
              <a:avLst/>
            </a:prstGeom>
            <a:solidFill>
              <a:srgbClr val="F8FAFD"/>
            </a:solidFill>
          </p:spPr>
          <p:txBody>
            <a:bodyPr wrap="square">
              <a:spAutoFit/>
            </a:bodyPr>
            <a:lstStyle/>
            <a:p>
              <a:r>
                <a:rPr lang="ru-RU" dirty="0"/>
                <a:t>https://</a:t>
              </a:r>
              <a:r>
                <a:rPr lang="ru-RU" dirty="0" smtClean="0"/>
                <a:t>colab.research.google.com/drive/1CuB3sHqaRaXzxlNXFXm334VfEb_60qWy</a:t>
              </a:r>
              <a:endParaRPr lang="ru-RU" dirty="0"/>
            </a:p>
          </p:txBody>
        </p:sp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33439" y="2606785"/>
              <a:ext cx="2471909" cy="3759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905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04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в работе у каждого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менеджера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354181"/>
            <a:ext cx="10595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Текущие клиенты за последние три месяца </a:t>
            </a: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(количество контрагентов, сумма, количество сделок, клиенты по категориям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812706"/>
              </p:ext>
            </p:extLst>
          </p:nvPr>
        </p:nvGraphicFramePr>
        <p:xfrm>
          <a:off x="9227750" y="3831772"/>
          <a:ext cx="3279347" cy="303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name="CorelDRAW" r:id="rId3" imgW="3964668" imgH="3335760" progId="CorelDraw.Graphic.22">
                  <p:embed/>
                </p:oleObj>
              </mc:Choice>
              <mc:Fallback>
                <p:oleObj name="CorelDRAW" r:id="rId3" imgW="3964668" imgH="3335760" progId="CorelDraw.Graphic.2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27750" y="3831772"/>
                        <a:ext cx="3279347" cy="3034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152502"/>
            <a:ext cx="9080195" cy="464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1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04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в работе у каждого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менеджера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15956" y="1444619"/>
            <a:ext cx="3341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CorelDRAW" r:id="rId3" imgW="2195411" imgH="5393160" progId="CorelDraw.Graphic.22">
                  <p:embed/>
                </p:oleObj>
              </mc:Choice>
              <mc:Fallback>
                <p:oleObj name="CorelDRAW" r:id="rId3" imgW="2195411" imgH="5393160" progId="CorelDraw.Graphic.2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2" y="1844729"/>
            <a:ext cx="10526425" cy="455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3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04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в работе у каждого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менеджера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15956" y="1444619"/>
            <a:ext cx="6790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Текущие клиенты за последние три месяца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314238"/>
              </p:ext>
            </p:extLst>
          </p:nvPr>
        </p:nvGraphicFramePr>
        <p:xfrm>
          <a:off x="816610" y="2176556"/>
          <a:ext cx="7124700" cy="3520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79796" y="1801671"/>
            <a:ext cx="36638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Реализовано с помощью сводной диаграммы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 smtClean="0">
                <a:solidFill>
                  <a:srgbClr val="1F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перспективе перенести в </a:t>
            </a:r>
          </a:p>
          <a:p>
            <a:r>
              <a:rPr lang="en-US" sz="2000" dirty="0" err="1" smtClean="0">
                <a:solidFill>
                  <a:srgbClr val="1F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Metabase</a:t>
            </a:r>
            <a:endParaRPr lang="ru-RU" sz="1050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824054"/>
              </p:ext>
            </p:extLst>
          </p:nvPr>
        </p:nvGraphicFramePr>
        <p:xfrm>
          <a:off x="10226735" y="4085882"/>
          <a:ext cx="1991392" cy="2830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CorelDRAW" r:id="rId4" imgW="2893757" imgH="4112668" progId="CorelDraw.Graphic.22">
                  <p:embed/>
                </p:oleObj>
              </mc:Choice>
              <mc:Fallback>
                <p:oleObj name="CorelDRAW" r:id="rId4" imgW="2893757" imgH="4112668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26735" y="4085882"/>
                        <a:ext cx="1991392" cy="2830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92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r>
              <a:rPr lang="en-US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количество клиентов в работе у каждого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менеджера 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4000" y="1392535"/>
            <a:ext cx="94183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Для формирования файлов со списками контрагентов по каждому менеджеру воспользуемся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Phyton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solidFill>
                  <a:srgbClr val="1F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r>
              <a:rPr lang="ru-RU" b="1" dirty="0" smtClean="0">
                <a:solidFill>
                  <a:srgbClr val="1F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аналогии с задачей 2</a:t>
            </a:r>
            <a:endParaRPr lang="ru-RU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54000" y="3122400"/>
            <a:ext cx="85155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 цикле для каждого менеджера создается свой запрос, различается только оператором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Where -&gt;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 запроса выгружается в отдельный файл с ФИО менеджера / единый файл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 листам</a:t>
            </a:r>
            <a:endParaRPr lang="en-US" b="1" dirty="0">
              <a:solidFill>
                <a:srgbClr val="1FB8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3183895" y="2321589"/>
            <a:ext cx="7768047" cy="701600"/>
            <a:chOff x="3183895" y="2321589"/>
            <a:chExt cx="7768047" cy="701600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3895" y="2321589"/>
              <a:ext cx="2514951" cy="333422"/>
            </a:xfrm>
            <a:prstGeom prst="rect">
              <a:avLst/>
            </a:prstGeom>
          </p:spPr>
        </p:pic>
        <p:sp>
          <p:nvSpPr>
            <p:cNvPr id="9" name="Прямоугольник 8"/>
            <p:cNvSpPr/>
            <p:nvPr/>
          </p:nvSpPr>
          <p:spPr>
            <a:xfrm>
              <a:off x="3183895" y="2653857"/>
              <a:ext cx="7768047" cy="369332"/>
            </a:xfrm>
            <a:prstGeom prst="rect">
              <a:avLst/>
            </a:prstGeom>
            <a:solidFill>
              <a:srgbClr val="F8FAFD"/>
            </a:solidFill>
          </p:spPr>
          <p:txBody>
            <a:bodyPr wrap="square">
              <a:spAutoFit/>
            </a:bodyPr>
            <a:lstStyle/>
            <a:p>
              <a:r>
                <a:rPr lang="ru-RU" dirty="0"/>
                <a:t>https://colab.research.google.com/drive/1PBb-vZB5xXkh4hghZEr5SdQLnLmaE-TF</a:t>
              </a:r>
            </a:p>
          </p:txBody>
        </p:sp>
      </p:grp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604" y="3977296"/>
            <a:ext cx="7537396" cy="2874936"/>
          </a:xfrm>
          <a:prstGeom prst="rect">
            <a:avLst/>
          </a:prstGeom>
        </p:spPr>
      </p:pic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432549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CorelDRAW" r:id="rId5" imgW="5054293" imgH="5342418" progId="CorelDraw.Graphic.22">
                  <p:embed/>
                </p:oleObj>
              </mc:Choice>
              <mc:Fallback>
                <p:oleObj name="CorelDRAW" r:id="rId5" imgW="5054293" imgH="5342418" progId="CorelDraw.Graphic.22">
                  <p:embed/>
                  <p:pic>
                    <p:nvPicPr>
                      <p:cNvPr id="10" name="Объект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956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05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топ-25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контрагентов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в работе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менеджеру и подразделению)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15956" y="1444619"/>
            <a:ext cx="67902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Топ 25 по отделам (вывод одной таблицей)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Группировка контрагентов по отделам</a:t>
            </a:r>
          </a:p>
          <a:p>
            <a:pPr marL="457200" indent="-457200">
              <a:buAutoNum type="arabicPeriod"/>
            </a:pP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Ранжирование</a:t>
            </a:r>
          </a:p>
          <a:p>
            <a:pPr marL="457200" indent="-457200">
              <a:buAutoNum type="arabicPeriod"/>
            </a:pP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 всех с рангом 25 и выше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75" y="3467466"/>
            <a:ext cx="8211696" cy="2553056"/>
          </a:xfrm>
          <a:prstGeom prst="rect">
            <a:avLst/>
          </a:prstGeom>
        </p:spPr>
      </p:pic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087144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2" name="CorelDRAW" r:id="rId4" imgW="2195411" imgH="5393160" progId="CorelDraw.Graphic.22">
                  <p:embed/>
                </p:oleObj>
              </mc:Choice>
              <mc:Fallback>
                <p:oleObj name="CorelDRAW" r:id="rId4" imgW="2195411" imgH="5393160" progId="CorelDraw.Graphic.22">
                  <p:embed/>
                  <p:pic>
                    <p:nvPicPr>
                      <p:cNvPr id="7" name="Объект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341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05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топ-25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контрагентов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в работе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менеджеру и подразделению)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15956" y="1444619"/>
            <a:ext cx="6790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 (на примере ТОП5)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" y="2200202"/>
            <a:ext cx="8330139" cy="4563989"/>
          </a:xfrm>
          <a:prstGeom prst="rect">
            <a:avLst/>
          </a:prstGeom>
        </p:spPr>
      </p:pic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734695"/>
              </p:ext>
            </p:extLst>
          </p:nvPr>
        </p:nvGraphicFramePr>
        <p:xfrm>
          <a:off x="9227750" y="3831772"/>
          <a:ext cx="3279347" cy="303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CorelDRAW" r:id="rId4" imgW="3964668" imgH="3335760" progId="CorelDraw.Graphic.22">
                  <p:embed/>
                </p:oleObj>
              </mc:Choice>
              <mc:Fallback>
                <p:oleObj name="CorelDRAW" r:id="rId4" imgW="3964668" imgH="3335760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27750" y="3831772"/>
                        <a:ext cx="3279347" cy="3034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00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05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топ-25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контрагентов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в работе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менеджеру и подразделению)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15956" y="1444619"/>
            <a:ext cx="67902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Топ 25 по менеджерам (вывод одной таблицей)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Группировка контрагентов по менеджерам</a:t>
            </a:r>
          </a:p>
          <a:p>
            <a:pPr marL="457200" indent="-457200">
              <a:buAutoNum type="arabicPeriod"/>
            </a:pP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Ранжирование</a:t>
            </a:r>
          </a:p>
          <a:p>
            <a:pPr marL="457200" indent="-457200">
              <a:buAutoNum type="arabicPeriod"/>
            </a:pP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 всех с рангом 25 и выше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087144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0" name="CorelDRAW" r:id="rId3" imgW="2195411" imgH="5393160" progId="CorelDraw.Graphic.22">
                  <p:embed/>
                </p:oleObj>
              </mc:Choice>
              <mc:Fallback>
                <p:oleObj name="CorelDRAW" r:id="rId3" imgW="2195411" imgH="5393160" progId="CorelDraw.Graphic.2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510" y="3641757"/>
            <a:ext cx="840222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954107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05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топ-25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контрагентов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в работе </a:t>
            </a:r>
            <a:endParaRPr lang="ru-RU" sz="2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 менеджеру и подразделению)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177" y="2418923"/>
            <a:ext cx="9261566" cy="44390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5956" y="1444619"/>
            <a:ext cx="6790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 (на примере ТОП5)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522860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" name="CorelDRAW" r:id="rId4" imgW="5054293" imgH="5342418" progId="CorelDraw.Graphic.22">
                  <p:embed/>
                </p:oleObj>
              </mc:Choice>
              <mc:Fallback>
                <p:oleObj name="CorelDRAW" r:id="rId4" imgW="5054293" imgH="5342418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11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CorelDRAW" r:id="rId3" imgW="2195411" imgH="5393160" progId="CorelDraw.Graphic.22">
                  <p:embed/>
                </p:oleObj>
              </mc:Choice>
              <mc:Fallback>
                <p:oleObj name="CorelDRAW" r:id="rId3" imgW="2195411" imgH="5393160" progId="CorelDraw.Graphic.2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06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топ-3 менеджера по подразделению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ый треугольник 8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89831" y="1067446"/>
            <a:ext cx="6790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 сумме продаж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59" y="1685187"/>
            <a:ext cx="9211961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2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06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топ-3 менеджера по подразделению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CorelDRAW" r:id="rId3" imgW="2195411" imgH="5393160" progId="CorelDraw.Graphic.22">
                  <p:embed/>
                </p:oleObj>
              </mc:Choice>
              <mc:Fallback>
                <p:oleObj name="CorelDRAW" r:id="rId3" imgW="2195411" imgH="5393160" progId="CorelDraw.Graphic.2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230460"/>
              </p:ext>
            </p:extLst>
          </p:nvPr>
        </p:nvGraphicFramePr>
        <p:xfrm>
          <a:off x="624296" y="1090477"/>
          <a:ext cx="39248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Диаграмма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6942174"/>
              </p:ext>
            </p:extLst>
          </p:nvPr>
        </p:nvGraphicFramePr>
        <p:xfrm>
          <a:off x="4679225" y="1101907"/>
          <a:ext cx="39248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5060133"/>
              </p:ext>
            </p:extLst>
          </p:nvPr>
        </p:nvGraphicFramePr>
        <p:xfrm>
          <a:off x="639536" y="3970837"/>
          <a:ext cx="39248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3353783"/>
              </p:ext>
            </p:extLst>
          </p:nvPr>
        </p:nvGraphicFramePr>
        <p:xfrm>
          <a:off x="4694465" y="3982267"/>
          <a:ext cx="39248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08114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CorelDRAW" r:id="rId3" imgW="2195411" imgH="5393160" progId="CorelDraw.Graphic.22">
                  <p:embed/>
                </p:oleObj>
              </mc:Choice>
              <mc:Fallback>
                <p:oleObj name="CorelDRAW" r:id="rId3" imgW="2195411" imgH="5393160" progId="CorelDraw.Graphic.2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06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топ-3 менеджера по подразделению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ый треугольник 8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89831" y="1067446"/>
            <a:ext cx="6790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 количеству продаж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79" y="1702144"/>
            <a:ext cx="8125959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6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06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топ-3 менеджера по подразделению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ый треугольник 2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366114"/>
              </p:ext>
            </p:extLst>
          </p:nvPr>
        </p:nvGraphicFramePr>
        <p:xfrm>
          <a:off x="574040" y="1365346"/>
          <a:ext cx="3572166" cy="2472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Диаграмма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688988"/>
              </p:ext>
            </p:extLst>
          </p:nvPr>
        </p:nvGraphicFramePr>
        <p:xfrm>
          <a:off x="4485640" y="1365346"/>
          <a:ext cx="3572166" cy="2472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Диаграмма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4763878"/>
              </p:ext>
            </p:extLst>
          </p:nvPr>
        </p:nvGraphicFramePr>
        <p:xfrm>
          <a:off x="574040" y="4217403"/>
          <a:ext cx="3572166" cy="2472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Диаграмма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162326"/>
              </p:ext>
            </p:extLst>
          </p:nvPr>
        </p:nvGraphicFramePr>
        <p:xfrm>
          <a:off x="4485640" y="4217403"/>
          <a:ext cx="3572166" cy="2472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041148"/>
              </p:ext>
            </p:extLst>
          </p:nvPr>
        </p:nvGraphicFramePr>
        <p:xfrm>
          <a:off x="9227750" y="3831772"/>
          <a:ext cx="3279347" cy="303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CorelDRAW" r:id="rId7" imgW="3964668" imgH="3335760" progId="CorelDraw.Graphic.22">
                  <p:embed/>
                </p:oleObj>
              </mc:Choice>
              <mc:Fallback>
                <p:oleObj name="CorelDRAW" r:id="rId7" imgW="3964668" imgH="3335760" progId="CorelDraw.Graphic.22">
                  <p:embed/>
                  <p:pic>
                    <p:nvPicPr>
                      <p:cNvPr id="9" name="Объект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27750" y="3831772"/>
                        <a:ext cx="3279347" cy="3034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720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07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потерянные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клиенты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78070" y="945526"/>
            <a:ext cx="74927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 отделам кто покупал в первые 6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месяцев, а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потом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нет</a:t>
            </a: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Подготовка данных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856" y="1376414"/>
            <a:ext cx="7953944" cy="5493791"/>
          </a:xfrm>
          <a:prstGeom prst="rect">
            <a:avLst/>
          </a:prstGeom>
        </p:spPr>
      </p:pic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0441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1" name="CorelDRAW" r:id="rId4" imgW="2195411" imgH="5393160" progId="CorelDraw.Graphic.22">
                  <p:embed/>
                </p:oleObj>
              </mc:Choice>
              <mc:Fallback>
                <p:oleObj name="CorelDRAW" r:id="rId4" imgW="2195411" imgH="5393160" progId="CorelDraw.Graphic.22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244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07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потерянные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клиенты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78070" y="945526"/>
            <a:ext cx="749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сводная таблица по отделам: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0" y="1492178"/>
            <a:ext cx="5106113" cy="102884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70" y="2677381"/>
            <a:ext cx="5182323" cy="138131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78070" y="4538395"/>
            <a:ext cx="89252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для списков потерянных клиентов по отделам воспользуемся кодом на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Phyton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 аналогии с отчетом №3, №4 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981507" y="5295090"/>
            <a:ext cx="8950960" cy="369332"/>
          </a:xfrm>
          <a:prstGeom prst="rect">
            <a:avLst/>
          </a:prstGeom>
          <a:solidFill>
            <a:srgbClr val="F8FAFD"/>
          </a:solidFill>
        </p:spPr>
        <p:txBody>
          <a:bodyPr wrap="square">
            <a:spAutoFit/>
          </a:bodyPr>
          <a:lstStyle/>
          <a:p>
            <a:r>
              <a:rPr lang="ru-RU" dirty="0"/>
              <a:t>https://</a:t>
            </a:r>
            <a:r>
              <a:rPr lang="ru-RU" dirty="0" smtClean="0"/>
              <a:t>colab.research.google.com/drive/1lMQbqkshmTA4r5-4CU6yqwHFvve-HUmi</a:t>
            </a: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93" y="5292895"/>
            <a:ext cx="2610214" cy="371527"/>
          </a:xfrm>
          <a:prstGeom prst="rect">
            <a:avLst/>
          </a:prstGeom>
        </p:spPr>
      </p:pic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124880"/>
              </p:ext>
            </p:extLst>
          </p:nvPr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CorelDRAW" r:id="rId6" imgW="5054293" imgH="5342418" progId="CorelDraw.Graphic.22">
                  <p:embed/>
                </p:oleObj>
              </mc:Choice>
              <mc:Fallback>
                <p:oleObj name="CorelDRAW" r:id="rId6" imgW="5054293" imgH="5342418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139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07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потерянные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клиенты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78070" y="945526"/>
            <a:ext cx="7492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0441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6" name="CorelDRAW" r:id="rId3" imgW="2195411" imgH="5393160" progId="CorelDraw.Graphic.22">
                  <p:embed/>
                </p:oleObj>
              </mc:Choice>
              <mc:Fallback>
                <p:oleObj name="CorelDRAW" r:id="rId3" imgW="2195411" imgH="5393160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37" y="1712338"/>
            <a:ext cx="9821646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31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07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потерянные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клиенты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78070" y="945526"/>
            <a:ext cx="8260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менеджерам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кто покупал в первые 6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месяцев, а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потом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нет</a:t>
            </a: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Подготовка данных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b="7098"/>
          <a:stretch/>
        </p:blipFill>
        <p:spPr>
          <a:xfrm>
            <a:off x="3127662" y="1376414"/>
            <a:ext cx="7662257" cy="5472200"/>
          </a:xfrm>
          <a:prstGeom prst="rect">
            <a:avLst/>
          </a:prstGeom>
        </p:spPr>
      </p:pic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021306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CorelDRAW" r:id="rId4" imgW="2195411" imgH="5393160" progId="CorelDraw.Graphic.22">
                  <p:embed/>
                </p:oleObj>
              </mc:Choice>
              <mc:Fallback>
                <p:oleObj name="CorelDRAW" r:id="rId4" imgW="2195411" imgH="5393160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849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07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потерянные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клиенты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78070" y="945526"/>
            <a:ext cx="749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сводная таблица по отделам: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/>
        </p:nvGraphicFramePr>
        <p:xfrm>
          <a:off x="10066042" y="0"/>
          <a:ext cx="2125958" cy="22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CorelDRAW" r:id="rId3" imgW="5054293" imgH="5342418" progId="CorelDraw.Graphic.22">
                  <p:embed/>
                </p:oleObj>
              </mc:Choice>
              <mc:Fallback>
                <p:oleObj name="CorelDRAW" r:id="rId3" imgW="5054293" imgH="5342418" progId="CorelDraw.Graphic.22">
                  <p:embed/>
                  <p:pic>
                    <p:nvPicPr>
                      <p:cNvPr id="14" name="Объект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6042" y="0"/>
                        <a:ext cx="2125958" cy="22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08" y="1385273"/>
            <a:ext cx="5353797" cy="94310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4569" y="1840412"/>
            <a:ext cx="5277587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3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EC720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07 </a:t>
            </a:r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потерянные </a:t>
            </a:r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клиенты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78070" y="922101"/>
            <a:ext cx="7492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0" y="1748091"/>
            <a:ext cx="10898121" cy="4163006"/>
          </a:xfrm>
          <a:prstGeom prst="rect">
            <a:avLst/>
          </a:prstGeom>
        </p:spPr>
      </p:pic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969393"/>
              </p:ext>
            </p:extLst>
          </p:nvPr>
        </p:nvGraphicFramePr>
        <p:xfrm>
          <a:off x="10624457" y="2975347"/>
          <a:ext cx="1593670" cy="391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CorelDRAW" r:id="rId4" imgW="2195411" imgH="5393160" progId="CorelDraw.Graphic.22">
                  <p:embed/>
                </p:oleObj>
              </mc:Choice>
              <mc:Fallback>
                <p:oleObj name="CorelDRAW" r:id="rId4" imgW="2195411" imgH="5393160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24457" y="2975347"/>
                        <a:ext cx="1593670" cy="391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357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393" y="0"/>
            <a:ext cx="399060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09638"/>
            <a:ext cx="8438607" cy="523220"/>
          </a:xfrm>
          <a:prstGeom prst="rect">
            <a:avLst/>
          </a:prstGeom>
          <a:solidFill>
            <a:srgbClr val="1FB8C6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СПАСИБО ЗА ВНИМАНИЕ</a:t>
            </a:r>
            <a:endParaRPr lang="ru-RU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0248" y="5673060"/>
            <a:ext cx="530615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Arial Black" panose="020B0A04020102020204" pitchFamily="34" charset="0"/>
              </a:rPr>
              <a:t>Выполнил:</a:t>
            </a:r>
          </a:p>
          <a:p>
            <a:r>
              <a:rPr lang="ru-RU" sz="2000" b="1" dirty="0" smtClean="0">
                <a:latin typeface="Arial Black" panose="020B0A04020102020204" pitchFamily="34" charset="0"/>
              </a:rPr>
              <a:t>студент </a:t>
            </a:r>
            <a:r>
              <a:rPr lang="ru-RU" sz="2000" b="1" dirty="0">
                <a:latin typeface="Arial Black" panose="020B0A04020102020204" pitchFamily="34" charset="0"/>
              </a:rPr>
              <a:t>группы: М1-М25</a:t>
            </a:r>
          </a:p>
          <a:p>
            <a:r>
              <a:rPr lang="ru-RU" sz="2000" b="1" dirty="0" smtClean="0">
                <a:latin typeface="Arial Black" panose="020B0A04020102020204" pitchFamily="34" charset="0"/>
              </a:rPr>
              <a:t>Толстяков Роман </a:t>
            </a:r>
            <a:r>
              <a:rPr lang="ru-RU" sz="2000" b="1" dirty="0">
                <a:latin typeface="Arial Black" panose="020B0A04020102020204" pitchFamily="34" charset="0"/>
              </a:rPr>
              <a:t>Рашидович</a:t>
            </a:r>
          </a:p>
          <a:p>
            <a:endParaRPr lang="ru-RU" sz="1100" b="1" dirty="0"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454" y="1142496"/>
            <a:ext cx="6255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Arial Black" panose="020B0A04020102020204" pitchFamily="34" charset="0"/>
              </a:rPr>
              <a:t>Выгрузки на </a:t>
            </a:r>
            <a:r>
              <a:rPr lang="en-US" sz="2400" dirty="0" smtClean="0">
                <a:latin typeface="Arial Black" panose="020B0A04020102020204" pitchFamily="34" charset="0"/>
              </a:rPr>
              <a:t>GitHub</a:t>
            </a: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github.com/Tolstyakoff/Practice_25</a:t>
            </a:r>
            <a:endParaRPr lang="en-US" dirty="0" smtClean="0"/>
          </a:p>
          <a:p>
            <a:endParaRPr lang="ru-RU" sz="1200" dirty="0">
              <a:latin typeface="Arial Black" panose="020B0A04020102020204" pitchFamily="34" charset="0"/>
            </a:endParaRPr>
          </a:p>
        </p:txBody>
      </p:sp>
      <p:sp>
        <p:nvSpPr>
          <p:cNvPr id="11" name="Прямоугольный треугольник 10"/>
          <p:cNvSpPr/>
          <p:nvPr/>
        </p:nvSpPr>
        <p:spPr>
          <a:xfrm rot="5400000">
            <a:off x="8251384" y="496860"/>
            <a:ext cx="954108" cy="579663"/>
          </a:xfrm>
          <a:prstGeom prst="rtTriangle">
            <a:avLst/>
          </a:prstGeom>
          <a:solidFill>
            <a:srgbClr val="1FB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4453" y="2474907"/>
            <a:ext cx="81169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 Black" panose="020B0A04020102020204" pitchFamily="34" charset="0"/>
              </a:rPr>
              <a:t>Google </a:t>
            </a:r>
            <a:r>
              <a:rPr lang="en-US" sz="2400" dirty="0" err="1" smtClean="0">
                <a:latin typeface="Arial Black" panose="020B0A04020102020204" pitchFamily="34" charset="0"/>
              </a:rPr>
              <a:t>Colab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colab.research.google.com/drive/1CuB3sHqaRaXzxlNXFXm334VfEb_60qWy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colab.research.google.com/drive/1PBb-vZB5xXkh4hghZEr5SdQLnLmaE-TF</a:t>
            </a:r>
            <a:endParaRPr lang="en-US" dirty="0" smtClean="0"/>
          </a:p>
          <a:p>
            <a:endParaRPr lang="en-US" dirty="0"/>
          </a:p>
          <a:p>
            <a:r>
              <a:rPr lang="en-US" dirty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colab.research.google.com/drive/1lMQbqkshmTA4r5-4CU6yqwHFvve-HUmi</a:t>
            </a:r>
            <a:endParaRPr lang="en-US" dirty="0" smtClean="0"/>
          </a:p>
          <a:p>
            <a:endParaRPr lang="ru-RU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3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5380</TotalTime>
  <Words>748</Words>
  <Application>Microsoft Office PowerPoint</Application>
  <PresentationFormat>Широкоэкранный</PresentationFormat>
  <Paragraphs>157</Paragraphs>
  <Slides>36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Courier New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69</cp:revision>
  <dcterms:created xsi:type="dcterms:W3CDTF">2025-12-12T09:19:12Z</dcterms:created>
  <dcterms:modified xsi:type="dcterms:W3CDTF">2025-12-18T08:19:11Z</dcterms:modified>
</cp:coreProperties>
</file>